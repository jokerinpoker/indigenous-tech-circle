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aleway"/>
      <p:regular r:id="rId36"/>
      <p:bold r:id="rId37"/>
      <p:italic r:id="rId38"/>
      <p:boldItalic r:id="rId39"/>
    </p:embeddedFon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414635-B335-44D1-8051-12FC2F506FD1}">
  <a:tblStyle styleId="{A7414635-B335-44D1-8051-12FC2F506FD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4.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aleway-bold.fntdata"/><Relationship Id="rId14" Type="http://schemas.openxmlformats.org/officeDocument/2006/relationships/slide" Target="slides/slide8.xml"/><Relationship Id="rId36" Type="http://schemas.openxmlformats.org/officeDocument/2006/relationships/font" Target="fonts/Raleway-regular.fntdata"/><Relationship Id="rId17" Type="http://schemas.openxmlformats.org/officeDocument/2006/relationships/slide" Target="slides/slide11.xml"/><Relationship Id="rId39" Type="http://schemas.openxmlformats.org/officeDocument/2006/relationships/font" Target="fonts/Raleway-boldItalic.fntdata"/><Relationship Id="rId16" Type="http://schemas.openxmlformats.org/officeDocument/2006/relationships/slide" Target="slides/slide10.xml"/><Relationship Id="rId38" Type="http://schemas.openxmlformats.org/officeDocument/2006/relationships/font" Target="fonts/Raleway-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09ee4716cf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09ee4716cf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fa9c564481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fa9c564481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70a8110ee_5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70a8110ee_5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f9f7deab1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f9f7deab1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f9f7deab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f9f7deab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070a8110ee_5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070a8110ee_5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09ee4716cf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09ee4716cf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070a8110ee_5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070a8110ee_5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70a8110ee_5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070a8110ee_5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70a8110ee_5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70a8110ee_5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70a8110ee_5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70a8110ee_5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070a8110ee_5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070a8110ee_5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70a8110ee_5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70a8110ee_5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a5dbcb1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a5dbcb1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9aaaf5bd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9aaaf5bd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f9349ffa0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f9349ffa0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f9349ffa0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f9349ffa0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900a1126a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900a1126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f900a1126a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f900a1126a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0b4fd3012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0b4fd3012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9aaaf5bd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9aaaf5bd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06f23268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06f23268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fc44361c4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fc44361c4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fc44361c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fc44361c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06fde6c5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06fde6c5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09aaaf5bd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09aaaf5bd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900a1126a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900a1126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9349ffa0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f9349ffa0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070a8110ee_5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070a8110ee_5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jpg"/><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client-rho-gules.vercel.app/" TargetMode="Externa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hyperlink" Target="https://greenframe.i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hyperlink" Target="https://playwright.dev/docs/locator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ieee.org/green-softwar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CA"/>
              <a:t>ITC </a:t>
            </a:r>
            <a:endParaRPr/>
          </a:p>
        </p:txBody>
      </p:sp>
      <p:sp>
        <p:nvSpPr>
          <p:cNvPr id="59" name="Google Shape;59;p13"/>
          <p:cNvSpPr txBox="1"/>
          <p:nvPr>
            <p:ph idx="1" type="subTitle"/>
          </p:nvPr>
        </p:nvSpPr>
        <p:spPr>
          <a:xfrm>
            <a:off x="480150" y="2999475"/>
            <a:ext cx="8183700" cy="861000"/>
          </a:xfrm>
          <a:prstGeom prst="rect">
            <a:avLst/>
          </a:prstGeom>
        </p:spPr>
        <p:txBody>
          <a:bodyPr anchorCtr="0" anchor="t" bIns="91425" lIns="91425" spcFirstLastPara="1" rIns="91425" wrap="square" tIns="91425">
            <a:normAutofit/>
          </a:bodyPr>
          <a:lstStyle/>
          <a:p>
            <a:pPr indent="0" lvl="0" marL="0" marR="0" rtl="0" algn="l">
              <a:lnSpc>
                <a:spcPct val="150000"/>
              </a:lnSpc>
              <a:spcBef>
                <a:spcPts val="0"/>
              </a:spcBef>
              <a:spcAft>
                <a:spcPts val="0"/>
              </a:spcAft>
              <a:buNone/>
            </a:pPr>
            <a:r>
              <a:rPr lang="en-CA" sz="1700">
                <a:solidFill>
                  <a:schemeClr val="lt1"/>
                </a:solidFill>
              </a:rPr>
              <a:t>OCT 15, 2024</a:t>
            </a:r>
            <a:endParaRPr sz="1700">
              <a:solidFill>
                <a:schemeClr val="lt1"/>
              </a:solidFill>
            </a:endParaRPr>
          </a:p>
          <a:p>
            <a:pPr indent="0" lvl="0" marL="0" marR="0" rtl="0" algn="l">
              <a:lnSpc>
                <a:spcPct val="150000"/>
              </a:lnSpc>
              <a:spcBef>
                <a:spcPts val="0"/>
              </a:spcBef>
              <a:spcAft>
                <a:spcPts val="0"/>
              </a:spcAft>
              <a:buNone/>
            </a:pPr>
            <a:r>
              <a:rPr lang="en-CA" sz="1700">
                <a:solidFill>
                  <a:schemeClr val="lt1"/>
                </a:solidFill>
              </a:rPr>
              <a:t>T-1, Report, Poster, and Billable HOURS</a:t>
            </a:r>
            <a:endParaRPr sz="4150">
              <a:solidFill>
                <a:srgbClr val="2D3B45"/>
              </a:solidFill>
              <a:highlight>
                <a:srgbClr val="FFFFFF"/>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3449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sz="3400"/>
              <a:t>Contents</a:t>
            </a:r>
            <a:endParaRPr sz="3400"/>
          </a:p>
        </p:txBody>
      </p:sp>
      <p:sp>
        <p:nvSpPr>
          <p:cNvPr id="65" name="Google Shape;65;p14"/>
          <p:cNvSpPr txBox="1"/>
          <p:nvPr>
            <p:ph idx="1" type="body"/>
          </p:nvPr>
        </p:nvSpPr>
        <p:spPr>
          <a:xfrm>
            <a:off x="311700" y="1143750"/>
            <a:ext cx="3630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2"/>
              </a:buClr>
              <a:buSzPts val="605"/>
              <a:buFont typeface="Arial"/>
              <a:buNone/>
            </a:pPr>
            <a:r>
              <a:rPr b="1" lang="en-CA" sz="1205">
                <a:solidFill>
                  <a:schemeClr val="dk2"/>
                </a:solidFill>
                <a:latin typeface="Arial"/>
                <a:ea typeface="Arial"/>
                <a:cs typeface="Arial"/>
                <a:sym typeface="Arial"/>
              </a:rPr>
              <a:t>Data Analysis</a:t>
            </a:r>
            <a:endParaRPr b="1" sz="1205">
              <a:solidFill>
                <a:schemeClr val="dk2"/>
              </a:solidFill>
              <a:latin typeface="Arial"/>
              <a:ea typeface="Arial"/>
              <a:cs typeface="Arial"/>
              <a:sym typeface="Arial"/>
            </a:endParaRPr>
          </a:p>
          <a:p>
            <a:pPr indent="-305117" lvl="0" marL="457200" rtl="0" algn="l">
              <a:lnSpc>
                <a:spcPct val="95000"/>
              </a:lnSpc>
              <a:spcBef>
                <a:spcPts val="1200"/>
              </a:spcBef>
              <a:spcAft>
                <a:spcPts val="0"/>
              </a:spcAft>
              <a:buClr>
                <a:schemeClr val="dk2"/>
              </a:buClr>
              <a:buSzPts val="1205"/>
              <a:buFont typeface="Arial"/>
              <a:buChar char="●"/>
            </a:pPr>
            <a:r>
              <a:rPr lang="en-CA" sz="1205">
                <a:solidFill>
                  <a:schemeClr val="dk2"/>
                </a:solidFill>
                <a:latin typeface="Arial"/>
                <a:ea typeface="Arial"/>
                <a:cs typeface="Arial"/>
                <a:sym typeface="Arial"/>
              </a:rPr>
              <a:t>Challenges in Data Analysis</a:t>
            </a:r>
            <a:endParaRPr sz="1205">
              <a:solidFill>
                <a:schemeClr val="dk2"/>
              </a:solidFill>
              <a:latin typeface="Arial"/>
              <a:ea typeface="Arial"/>
              <a:cs typeface="Arial"/>
              <a:sym typeface="Arial"/>
            </a:endParaRPr>
          </a:p>
          <a:p>
            <a:pPr indent="-305117" lvl="0" marL="457200" rtl="0" algn="l">
              <a:lnSpc>
                <a:spcPct val="95000"/>
              </a:lnSpc>
              <a:spcBef>
                <a:spcPts val="0"/>
              </a:spcBef>
              <a:spcAft>
                <a:spcPts val="0"/>
              </a:spcAft>
              <a:buClr>
                <a:schemeClr val="dk2"/>
              </a:buClr>
              <a:buSzPts val="1205"/>
              <a:buFont typeface="Arial"/>
              <a:buChar char="●"/>
            </a:pPr>
            <a:r>
              <a:rPr lang="en-CA" sz="1205">
                <a:solidFill>
                  <a:schemeClr val="dk2"/>
                </a:solidFill>
                <a:latin typeface="Arial"/>
                <a:ea typeface="Arial"/>
                <a:cs typeface="Arial"/>
                <a:sym typeface="Arial"/>
              </a:rPr>
              <a:t>Standardized Data Processing Steps</a:t>
            </a:r>
            <a:endParaRPr sz="1205">
              <a:solidFill>
                <a:schemeClr val="dk2"/>
              </a:solidFill>
              <a:latin typeface="Arial"/>
              <a:ea typeface="Arial"/>
              <a:cs typeface="Arial"/>
              <a:sym typeface="Arial"/>
            </a:endParaRPr>
          </a:p>
          <a:p>
            <a:pPr indent="-305117" lvl="0" marL="457200" rtl="0" algn="l">
              <a:lnSpc>
                <a:spcPct val="95000"/>
              </a:lnSpc>
              <a:spcBef>
                <a:spcPts val="0"/>
              </a:spcBef>
              <a:spcAft>
                <a:spcPts val="0"/>
              </a:spcAft>
              <a:buClr>
                <a:schemeClr val="dk2"/>
              </a:buClr>
              <a:buSzPts val="1205"/>
              <a:buFont typeface="Arial"/>
              <a:buChar char="●"/>
            </a:pPr>
            <a:r>
              <a:rPr lang="en-CA" sz="1205">
                <a:solidFill>
                  <a:schemeClr val="dk2"/>
                </a:solidFill>
                <a:latin typeface="Arial"/>
                <a:ea typeface="Arial"/>
                <a:cs typeface="Arial"/>
                <a:sym typeface="Arial"/>
              </a:rPr>
              <a:t>Charts or Results Provided to ITC</a:t>
            </a:r>
            <a:endParaRPr sz="1205">
              <a:solidFill>
                <a:schemeClr val="dk2"/>
              </a:solidFill>
              <a:latin typeface="Arial"/>
              <a:ea typeface="Arial"/>
              <a:cs typeface="Arial"/>
              <a:sym typeface="Arial"/>
            </a:endParaRPr>
          </a:p>
          <a:p>
            <a:pPr indent="0" lvl="0" marL="0" rtl="0" algn="l">
              <a:lnSpc>
                <a:spcPct val="95000"/>
              </a:lnSpc>
              <a:spcBef>
                <a:spcPts val="1200"/>
              </a:spcBef>
              <a:spcAft>
                <a:spcPts val="0"/>
              </a:spcAft>
              <a:buClr>
                <a:schemeClr val="dk2"/>
              </a:buClr>
              <a:buSzPts val="605"/>
              <a:buFont typeface="Arial"/>
              <a:buNone/>
            </a:pPr>
            <a:r>
              <a:rPr b="1" lang="en-CA" sz="1205">
                <a:solidFill>
                  <a:schemeClr val="dk2"/>
                </a:solidFill>
                <a:latin typeface="Arial"/>
                <a:ea typeface="Arial"/>
                <a:cs typeface="Arial"/>
                <a:sym typeface="Arial"/>
              </a:rPr>
              <a:t>Problem Statement on Greener Software</a:t>
            </a:r>
            <a:endParaRPr b="1" sz="1205">
              <a:solidFill>
                <a:schemeClr val="dk2"/>
              </a:solidFill>
              <a:latin typeface="Arial"/>
              <a:ea typeface="Arial"/>
              <a:cs typeface="Arial"/>
              <a:sym typeface="Arial"/>
            </a:endParaRPr>
          </a:p>
          <a:p>
            <a:pPr indent="-305117" lvl="0" marL="457200" rtl="0" algn="l">
              <a:lnSpc>
                <a:spcPct val="95000"/>
              </a:lnSpc>
              <a:spcBef>
                <a:spcPts val="1200"/>
              </a:spcBef>
              <a:spcAft>
                <a:spcPts val="0"/>
              </a:spcAft>
              <a:buClr>
                <a:schemeClr val="dk2"/>
              </a:buClr>
              <a:buSzPts val="1205"/>
              <a:buFont typeface="Arial"/>
              <a:buChar char="●"/>
            </a:pPr>
            <a:r>
              <a:rPr lang="en-CA" sz="1205">
                <a:solidFill>
                  <a:schemeClr val="dk2"/>
                </a:solidFill>
                <a:latin typeface="Arial"/>
                <a:ea typeface="Arial"/>
                <a:cs typeface="Arial"/>
                <a:sym typeface="Arial"/>
              </a:rPr>
              <a:t>The Need for Greener Solutions</a:t>
            </a:r>
            <a:endParaRPr sz="1205">
              <a:solidFill>
                <a:schemeClr val="dk2"/>
              </a:solidFill>
              <a:latin typeface="Arial"/>
              <a:ea typeface="Arial"/>
              <a:cs typeface="Arial"/>
              <a:sym typeface="Arial"/>
            </a:endParaRPr>
          </a:p>
          <a:p>
            <a:pPr indent="-305117" lvl="0" marL="457200" rtl="0" algn="l">
              <a:lnSpc>
                <a:spcPct val="95000"/>
              </a:lnSpc>
              <a:spcBef>
                <a:spcPts val="0"/>
              </a:spcBef>
              <a:spcAft>
                <a:spcPts val="0"/>
              </a:spcAft>
              <a:buClr>
                <a:schemeClr val="dk2"/>
              </a:buClr>
              <a:buSzPts val="1205"/>
              <a:buFont typeface="Arial"/>
              <a:buChar char="●"/>
            </a:pPr>
            <a:r>
              <a:rPr lang="en-CA" sz="1205">
                <a:solidFill>
                  <a:schemeClr val="dk2"/>
                </a:solidFill>
                <a:latin typeface="Arial"/>
                <a:ea typeface="Arial"/>
                <a:cs typeface="Arial"/>
                <a:sym typeface="Arial"/>
              </a:rPr>
              <a:t>Environmental Impact and Software Efficiency</a:t>
            </a:r>
            <a:endParaRPr sz="1205">
              <a:solidFill>
                <a:schemeClr val="dk2"/>
              </a:solidFill>
              <a:latin typeface="Arial"/>
              <a:ea typeface="Arial"/>
              <a:cs typeface="Arial"/>
              <a:sym typeface="Arial"/>
            </a:endParaRPr>
          </a:p>
          <a:p>
            <a:pPr indent="0" lvl="0" marL="0" rtl="0" algn="l">
              <a:lnSpc>
                <a:spcPct val="95000"/>
              </a:lnSpc>
              <a:spcBef>
                <a:spcPts val="1200"/>
              </a:spcBef>
              <a:spcAft>
                <a:spcPts val="0"/>
              </a:spcAft>
              <a:buClr>
                <a:schemeClr val="dk2"/>
              </a:buClr>
              <a:buSzPts val="605"/>
              <a:buFont typeface="Arial"/>
              <a:buNone/>
            </a:pPr>
            <a:r>
              <a:rPr b="1" lang="en-CA" sz="1205">
                <a:solidFill>
                  <a:schemeClr val="dk2"/>
                </a:solidFill>
                <a:latin typeface="Arial"/>
                <a:ea typeface="Arial"/>
                <a:cs typeface="Arial"/>
                <a:sym typeface="Arial"/>
              </a:rPr>
              <a:t>Proposed Solution</a:t>
            </a:r>
            <a:endParaRPr b="1" sz="1205">
              <a:solidFill>
                <a:schemeClr val="dk2"/>
              </a:solidFill>
              <a:latin typeface="Arial"/>
              <a:ea typeface="Arial"/>
              <a:cs typeface="Arial"/>
              <a:sym typeface="Arial"/>
            </a:endParaRPr>
          </a:p>
          <a:p>
            <a:pPr indent="-305117" lvl="0" marL="457200" rtl="0" algn="l">
              <a:lnSpc>
                <a:spcPct val="95000"/>
              </a:lnSpc>
              <a:spcBef>
                <a:spcPts val="1200"/>
              </a:spcBef>
              <a:spcAft>
                <a:spcPts val="0"/>
              </a:spcAft>
              <a:buClr>
                <a:schemeClr val="dk2"/>
              </a:buClr>
              <a:buSzPts val="1205"/>
              <a:buFont typeface="Arial"/>
              <a:buChar char="●"/>
            </a:pPr>
            <a:r>
              <a:rPr lang="en-CA" sz="1205">
                <a:solidFill>
                  <a:schemeClr val="dk2"/>
                </a:solidFill>
                <a:latin typeface="Arial"/>
                <a:ea typeface="Arial"/>
                <a:cs typeface="Arial"/>
                <a:sym typeface="Arial"/>
              </a:rPr>
              <a:t>Literature Review: Focus on Greener Software</a:t>
            </a:r>
            <a:endParaRPr sz="1205">
              <a:solidFill>
                <a:schemeClr val="dk2"/>
              </a:solidFill>
              <a:latin typeface="Arial"/>
              <a:ea typeface="Arial"/>
              <a:cs typeface="Arial"/>
              <a:sym typeface="Arial"/>
            </a:endParaRPr>
          </a:p>
          <a:p>
            <a:pPr indent="-305117" lvl="0" marL="457200" rtl="0" algn="l">
              <a:lnSpc>
                <a:spcPct val="95000"/>
              </a:lnSpc>
              <a:spcBef>
                <a:spcPts val="0"/>
              </a:spcBef>
              <a:spcAft>
                <a:spcPts val="0"/>
              </a:spcAft>
              <a:buClr>
                <a:schemeClr val="dk2"/>
              </a:buClr>
              <a:buSzPts val="1205"/>
              <a:buFont typeface="Arial"/>
              <a:buChar char="●"/>
            </a:pPr>
            <a:r>
              <a:rPr lang="en-CA" sz="1205">
                <a:solidFill>
                  <a:schemeClr val="dk2"/>
                </a:solidFill>
                <a:latin typeface="Arial"/>
                <a:ea typeface="Arial"/>
                <a:cs typeface="Arial"/>
                <a:sym typeface="Arial"/>
              </a:rPr>
              <a:t>Identifying Gaps in Current Solutions</a:t>
            </a:r>
            <a:endParaRPr sz="1205">
              <a:solidFill>
                <a:schemeClr val="dk2"/>
              </a:solidFill>
              <a:latin typeface="Arial"/>
              <a:ea typeface="Arial"/>
              <a:cs typeface="Arial"/>
              <a:sym typeface="Arial"/>
            </a:endParaRPr>
          </a:p>
          <a:p>
            <a:pPr indent="-305117" lvl="0" marL="457200" rtl="0" algn="l">
              <a:lnSpc>
                <a:spcPct val="95000"/>
              </a:lnSpc>
              <a:spcBef>
                <a:spcPts val="0"/>
              </a:spcBef>
              <a:spcAft>
                <a:spcPts val="0"/>
              </a:spcAft>
              <a:buClr>
                <a:schemeClr val="dk2"/>
              </a:buClr>
              <a:buSzPts val="1205"/>
              <a:buFont typeface="Arial"/>
              <a:buChar char="●"/>
            </a:pPr>
            <a:r>
              <a:rPr lang="en-CA" sz="1205">
                <a:solidFill>
                  <a:schemeClr val="dk2"/>
                </a:solidFill>
                <a:latin typeface="Arial"/>
                <a:ea typeface="Arial"/>
                <a:cs typeface="Arial"/>
                <a:sym typeface="Arial"/>
              </a:rPr>
              <a:t>Comparison of Two Potential Solutions</a:t>
            </a:r>
            <a:endParaRPr sz="1205">
              <a:solidFill>
                <a:schemeClr val="dk2"/>
              </a:solidFill>
              <a:latin typeface="Arial"/>
              <a:ea typeface="Arial"/>
              <a:cs typeface="Arial"/>
              <a:sym typeface="Arial"/>
            </a:endParaRPr>
          </a:p>
          <a:p>
            <a:pPr indent="0" lvl="0" marL="0" rtl="0" algn="l">
              <a:lnSpc>
                <a:spcPct val="95000"/>
              </a:lnSpc>
              <a:spcBef>
                <a:spcPts val="1200"/>
              </a:spcBef>
              <a:spcAft>
                <a:spcPts val="1200"/>
              </a:spcAft>
              <a:buSzPts val="605"/>
              <a:buNone/>
            </a:pPr>
            <a:r>
              <a:t/>
            </a:r>
            <a:endParaRPr sz="1290"/>
          </a:p>
        </p:txBody>
      </p:sp>
      <p:sp>
        <p:nvSpPr>
          <p:cNvPr id="66" name="Google Shape;66;p14"/>
          <p:cNvSpPr txBox="1"/>
          <p:nvPr/>
        </p:nvSpPr>
        <p:spPr>
          <a:xfrm>
            <a:off x="4312925" y="1410975"/>
            <a:ext cx="4282800" cy="14160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Clr>
                <a:schemeClr val="dk2"/>
              </a:buClr>
              <a:buSzPts val="605"/>
              <a:buFont typeface="Arial"/>
              <a:buNone/>
            </a:pPr>
            <a:r>
              <a:rPr b="1" lang="en-CA" sz="1200">
                <a:solidFill>
                  <a:schemeClr val="dk2"/>
                </a:solidFill>
              </a:rPr>
              <a:t>Evaluation for Simulation</a:t>
            </a:r>
            <a:endParaRPr b="1" sz="1200">
              <a:solidFill>
                <a:schemeClr val="dk2"/>
              </a:solidFill>
            </a:endParaRPr>
          </a:p>
          <a:p>
            <a:pPr indent="-304800" lvl="0" marL="457200" rtl="0" algn="l">
              <a:lnSpc>
                <a:spcPct val="95000"/>
              </a:lnSpc>
              <a:spcBef>
                <a:spcPts val="1200"/>
              </a:spcBef>
              <a:spcAft>
                <a:spcPts val="0"/>
              </a:spcAft>
              <a:buClr>
                <a:schemeClr val="dk2"/>
              </a:buClr>
              <a:buSzPts val="1200"/>
              <a:buChar char="●"/>
            </a:pPr>
            <a:r>
              <a:rPr lang="en-CA" sz="1200">
                <a:solidFill>
                  <a:schemeClr val="dk2"/>
                </a:solidFill>
              </a:rPr>
              <a:t>Simulation Setup</a:t>
            </a:r>
            <a:endParaRPr sz="1200">
              <a:solidFill>
                <a:schemeClr val="dk2"/>
              </a:solidFill>
            </a:endParaRPr>
          </a:p>
          <a:p>
            <a:pPr indent="-304800" lvl="0" marL="457200" rtl="0" algn="l">
              <a:lnSpc>
                <a:spcPct val="95000"/>
              </a:lnSpc>
              <a:spcBef>
                <a:spcPts val="0"/>
              </a:spcBef>
              <a:spcAft>
                <a:spcPts val="0"/>
              </a:spcAft>
              <a:buClr>
                <a:schemeClr val="dk2"/>
              </a:buClr>
              <a:buSzPts val="1200"/>
              <a:buChar char="●"/>
            </a:pPr>
            <a:r>
              <a:rPr lang="en-CA" sz="1200">
                <a:solidFill>
                  <a:schemeClr val="dk2"/>
                </a:solidFill>
              </a:rPr>
              <a:t>Key Metrics for Evaluation</a:t>
            </a:r>
            <a:endParaRPr sz="1200">
              <a:solidFill>
                <a:schemeClr val="dk2"/>
              </a:solidFill>
            </a:endParaRPr>
          </a:p>
          <a:p>
            <a:pPr indent="-304800" lvl="0" marL="457200" rtl="0" algn="l">
              <a:lnSpc>
                <a:spcPct val="95000"/>
              </a:lnSpc>
              <a:spcBef>
                <a:spcPts val="0"/>
              </a:spcBef>
              <a:spcAft>
                <a:spcPts val="0"/>
              </a:spcAft>
              <a:buClr>
                <a:schemeClr val="dk2"/>
              </a:buClr>
              <a:buSzPts val="1200"/>
              <a:buChar char="●"/>
            </a:pPr>
            <a:r>
              <a:rPr lang="en-CA" sz="1200">
                <a:solidFill>
                  <a:schemeClr val="dk2"/>
                </a:solidFill>
              </a:rPr>
              <a:t>Timeline </a:t>
            </a:r>
            <a:endParaRPr sz="1200">
              <a:solidFill>
                <a:schemeClr val="dk2"/>
              </a:solidFill>
            </a:endParaRPr>
          </a:p>
          <a:p>
            <a:pPr indent="0" lvl="0" marL="0" rtl="0" algn="l">
              <a:spcBef>
                <a:spcPts val="1200"/>
              </a:spcBef>
              <a:spcAft>
                <a:spcPts val="0"/>
              </a:spcAft>
              <a:buNone/>
            </a:pPr>
            <a:r>
              <a:t/>
            </a:r>
            <a:endParaRPr sz="1200">
              <a:solidFill>
                <a:schemeClr val="lt2"/>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 Analysis - </a:t>
            </a:r>
            <a:r>
              <a:rPr lang="en-CA"/>
              <a:t>Challenges and Action Plan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lang="en-CA" sz="4507">
                <a:solidFill>
                  <a:schemeClr val="dk2"/>
                </a:solidFill>
              </a:rPr>
              <a:t>Challenges We Faced:</a:t>
            </a:r>
            <a:endParaRPr sz="4507">
              <a:solidFill>
                <a:schemeClr val="dk2"/>
              </a:solidFill>
            </a:endParaRPr>
          </a:p>
          <a:p>
            <a:pPr indent="-321627" lvl="0" marL="457200" rtl="0" algn="l">
              <a:spcBef>
                <a:spcPts val="1200"/>
              </a:spcBef>
              <a:spcAft>
                <a:spcPts val="0"/>
              </a:spcAft>
              <a:buClr>
                <a:schemeClr val="dk2"/>
              </a:buClr>
              <a:buSzPct val="100000"/>
              <a:buChar char="●"/>
            </a:pPr>
            <a:r>
              <a:rPr lang="en-CA" sz="4507">
                <a:solidFill>
                  <a:schemeClr val="dk2"/>
                </a:solidFill>
              </a:rPr>
              <a:t>Large Volume of Data: The dataset is vast, making processing and analysis difficult.</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Incomplete Information: Some entries lack key details or contain irrelevant information.</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Detailed Classification: Hard to distinguish details in categories, requiring more analysis.</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Attributes Relationships: Identifying meaningful connections between attributes.</a:t>
            </a:r>
            <a:endParaRPr sz="4507">
              <a:solidFill>
                <a:schemeClr val="dk2"/>
              </a:solidFill>
            </a:endParaRPr>
          </a:p>
          <a:p>
            <a:pPr indent="0" lvl="0" marL="0" rtl="0" algn="l">
              <a:spcBef>
                <a:spcPts val="1200"/>
              </a:spcBef>
              <a:spcAft>
                <a:spcPts val="0"/>
              </a:spcAft>
              <a:buNone/>
            </a:pPr>
            <a:r>
              <a:rPr lang="en-CA" sz="4507">
                <a:solidFill>
                  <a:schemeClr val="dk2"/>
                </a:solidFill>
              </a:rPr>
              <a:t>Steps to Take:</a:t>
            </a:r>
            <a:endParaRPr sz="4507">
              <a:solidFill>
                <a:schemeClr val="dk2"/>
              </a:solidFill>
            </a:endParaRPr>
          </a:p>
          <a:p>
            <a:pPr indent="-321627" lvl="0" marL="457200" rtl="0" algn="l">
              <a:spcBef>
                <a:spcPts val="1200"/>
              </a:spcBef>
              <a:spcAft>
                <a:spcPts val="0"/>
              </a:spcAft>
              <a:buClr>
                <a:schemeClr val="dk2"/>
              </a:buClr>
              <a:buSzPct val="100000"/>
              <a:buChar char="●"/>
            </a:pPr>
            <a:r>
              <a:rPr lang="en-CA" sz="4507">
                <a:solidFill>
                  <a:schemeClr val="dk2"/>
                </a:solidFill>
              </a:rPr>
              <a:t>Select Key </a:t>
            </a:r>
            <a:r>
              <a:rPr lang="en-CA" sz="4507">
                <a:solidFill>
                  <a:schemeClr val="dk2"/>
                </a:solidFill>
              </a:rPr>
              <a:t>Attributes</a:t>
            </a:r>
            <a:r>
              <a:rPr lang="en-CA" sz="4507">
                <a:solidFill>
                  <a:schemeClr val="dk2"/>
                </a:solidFill>
              </a:rPr>
              <a:t>: Identify and match relevant features in the dataset for deeper analysis.</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Data Cleaning: Remove irrelevant entries and filter for contracts with values over $10,000.</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Data Processing: Classify contract details into more specific categories.</a:t>
            </a:r>
            <a:endParaRPr sz="4507">
              <a:solidFill>
                <a:schemeClr val="dk2"/>
              </a:solidFill>
            </a:endParaRPr>
          </a:p>
          <a:p>
            <a:pPr indent="-321627" lvl="0" marL="457200" rtl="0" algn="l">
              <a:spcBef>
                <a:spcPts val="0"/>
              </a:spcBef>
              <a:spcAft>
                <a:spcPts val="0"/>
              </a:spcAft>
              <a:buClr>
                <a:schemeClr val="dk2"/>
              </a:buClr>
              <a:buSzPct val="100000"/>
              <a:buChar char="●"/>
            </a:pPr>
            <a:r>
              <a:rPr lang="en-CA" sz="4507">
                <a:solidFill>
                  <a:schemeClr val="dk2"/>
                </a:solidFill>
              </a:rPr>
              <a:t>Data Analysis: Perform statistical and comparative analysis to gain actionable insights.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Achieving Greener Practices in Data Analysis</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b="1" lang="en-CA" sz="1100">
                <a:solidFill>
                  <a:schemeClr val="dk2"/>
                </a:solidFill>
                <a:latin typeface="Arial"/>
                <a:ea typeface="Arial"/>
                <a:cs typeface="Arial"/>
                <a:sym typeface="Arial"/>
              </a:rPr>
              <a:t>Green Data Analysis:</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CA" sz="1100">
                <a:solidFill>
                  <a:schemeClr val="dk2"/>
                </a:solidFill>
                <a:latin typeface="Arial"/>
                <a:ea typeface="Arial"/>
                <a:cs typeface="Arial"/>
                <a:sym typeface="Arial"/>
              </a:rPr>
              <a:t>The ITC project uses a green data analysis method to reduce waste and conserve resources, helping to decrease its environmental impact.</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CA" sz="1100">
                <a:solidFill>
                  <a:schemeClr val="dk2"/>
                </a:solidFill>
                <a:latin typeface="Arial"/>
                <a:ea typeface="Arial"/>
                <a:cs typeface="Arial"/>
                <a:sym typeface="Arial"/>
              </a:rPr>
              <a:t>Sustainability Metrics:</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CA" sz="1100">
                <a:solidFill>
                  <a:schemeClr val="dk2"/>
                </a:solidFill>
                <a:latin typeface="Arial"/>
                <a:ea typeface="Arial"/>
                <a:cs typeface="Arial"/>
                <a:sym typeface="Arial"/>
              </a:rPr>
              <a:t>The project measures sustainability through energy efficiency, resource use, and carbon emissions from IT operations.</a:t>
            </a:r>
            <a:endParaRPr sz="11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CA" sz="1100">
                <a:solidFill>
                  <a:schemeClr val="dk2"/>
                </a:solidFill>
                <a:latin typeface="Arial"/>
                <a:ea typeface="Arial"/>
                <a:cs typeface="Arial"/>
                <a:sym typeface="Arial"/>
              </a:rPr>
              <a:t>Life Cycle</a:t>
            </a:r>
            <a:r>
              <a:rPr b="1" lang="en-CA" sz="1100">
                <a:solidFill>
                  <a:schemeClr val="dk2"/>
                </a:solidFill>
                <a:latin typeface="Arial"/>
                <a:ea typeface="Arial"/>
                <a:cs typeface="Arial"/>
                <a:sym typeface="Arial"/>
              </a:rPr>
              <a:t> Assessment:</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CA" sz="1100">
                <a:solidFill>
                  <a:schemeClr val="dk2"/>
                </a:solidFill>
                <a:latin typeface="Arial"/>
                <a:ea typeface="Arial"/>
                <a:cs typeface="Arial"/>
                <a:sym typeface="Arial"/>
              </a:rPr>
              <a:t>Lifecycle assessments evaluate the environmental effects of the data processing solution at each stage.</a:t>
            </a:r>
            <a:endParaRPr sz="1100">
              <a:solidFill>
                <a:schemeClr val="dk2"/>
              </a:solidFill>
              <a:latin typeface="Arial"/>
              <a:ea typeface="Arial"/>
              <a:cs typeface="Arial"/>
              <a:sym typeface="Arial"/>
            </a:endParaRPr>
          </a:p>
          <a:p>
            <a:pPr indent="0" lvl="0" marL="0" rtl="0" algn="l">
              <a:spcBef>
                <a:spcPts val="1200"/>
              </a:spcBef>
              <a:spcAft>
                <a:spcPts val="0"/>
              </a:spcAft>
              <a:buNone/>
            </a:pPr>
            <a:r>
              <a:t/>
            </a:r>
            <a:endParaRPr sz="1100">
              <a:solidFill>
                <a:schemeClr val="dk2"/>
              </a:solidFill>
              <a:latin typeface="Calibri"/>
              <a:ea typeface="Calibri"/>
              <a:cs typeface="Calibri"/>
              <a:sym typeface="Calibri"/>
            </a:endParaRPr>
          </a:p>
          <a:p>
            <a:pPr indent="0" lvl="0" marL="0" rtl="0" algn="l">
              <a:spcBef>
                <a:spcPts val="0"/>
              </a:spcBef>
              <a:spcAft>
                <a:spcPts val="0"/>
              </a:spcAft>
              <a:buNone/>
            </a:pPr>
            <a:r>
              <a:rPr lang="en-CA" sz="1200">
                <a:solidFill>
                  <a:schemeClr val="dk2"/>
                </a:solidFill>
                <a:latin typeface="Calibri"/>
                <a:ea typeface="Calibri"/>
                <a:cs typeface="Calibri"/>
                <a:sym typeface="Calibri"/>
              </a:rPr>
              <a:t>Reference </a:t>
            </a:r>
            <a:r>
              <a:rPr lang="en-CA" sz="1200">
                <a:solidFill>
                  <a:schemeClr val="dk2"/>
                </a:solidFill>
                <a:latin typeface="Calibri"/>
                <a:ea typeface="Calibri"/>
                <a:cs typeface="Calibri"/>
                <a:sym typeface="Calibri"/>
              </a:rPr>
              <a:t>- S. R. A. Ibrahim, J. Yahaya, H. Salehudin, and A. Deraman. “The Development of Green Software Process Model”. In: International Journal of Advanced Computer Science and Applications (2021). doi: 10.14569/ijacsa.2021.0120869. </a:t>
            </a:r>
            <a:endParaRPr sz="1200">
              <a:solidFill>
                <a:schemeClr val="dk2"/>
              </a:solidFill>
              <a:latin typeface="Calibri"/>
              <a:ea typeface="Calibri"/>
              <a:cs typeface="Calibri"/>
              <a:sym typeface="Calibri"/>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40550" y="2248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Standardized Data Processing Steps</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311700" y="848275"/>
            <a:ext cx="8520598" cy="3720599"/>
          </a:xfrm>
          <a:prstGeom prst="rect">
            <a:avLst/>
          </a:prstGeom>
          <a:noFill/>
          <a:ln>
            <a:noFill/>
          </a:ln>
        </p:spPr>
      </p:pic>
      <p:cxnSp>
        <p:nvCxnSpPr>
          <p:cNvPr id="86" name="Google Shape;86;p17"/>
          <p:cNvCxnSpPr/>
          <p:nvPr/>
        </p:nvCxnSpPr>
        <p:spPr>
          <a:xfrm>
            <a:off x="4616425" y="1454000"/>
            <a:ext cx="0" cy="454500"/>
          </a:xfrm>
          <a:prstGeom prst="straightConnector1">
            <a:avLst/>
          </a:prstGeom>
          <a:noFill/>
          <a:ln cap="flat" cmpd="sng" w="9525">
            <a:solidFill>
              <a:schemeClr val="dk2"/>
            </a:solidFill>
            <a:prstDash val="solid"/>
            <a:round/>
            <a:headEnd len="med" w="med" type="none"/>
            <a:tailEnd len="med" w="med" type="triangle"/>
          </a:ln>
        </p:spPr>
      </p:cxnSp>
      <p:sp>
        <p:nvSpPr>
          <p:cNvPr id="87" name="Google Shape;87;p17"/>
          <p:cNvSpPr txBox="1"/>
          <p:nvPr/>
        </p:nvSpPr>
        <p:spPr>
          <a:xfrm>
            <a:off x="3789475" y="1999250"/>
            <a:ext cx="165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900">
                <a:solidFill>
                  <a:schemeClr val="lt2"/>
                </a:solidFill>
                <a:latin typeface="Source Sans Pro"/>
                <a:ea typeface="Source Sans Pro"/>
                <a:cs typeface="Source Sans Pro"/>
                <a:sym typeface="Source Sans Pro"/>
              </a:rPr>
              <a:t>Eg:  Procurement_id</a:t>
            </a:r>
            <a:endParaRPr b="1" sz="9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rPr b="1" lang="en-CA" sz="900">
                <a:solidFill>
                  <a:schemeClr val="lt2"/>
                </a:solidFill>
                <a:latin typeface="Source Sans Pro"/>
                <a:ea typeface="Source Sans Pro"/>
                <a:cs typeface="Source Sans Pro"/>
                <a:sym typeface="Source Sans Pro"/>
              </a:rPr>
              <a:t>Agreement_type_code_en</a:t>
            </a:r>
            <a:endParaRPr b="1" sz="9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rPr b="1" lang="en-CA" sz="900">
                <a:solidFill>
                  <a:schemeClr val="lt2"/>
                </a:solidFill>
                <a:latin typeface="Source Sans Pro"/>
                <a:ea typeface="Source Sans Pro"/>
                <a:cs typeface="Source Sans Pro"/>
                <a:sym typeface="Source Sans Pro"/>
              </a:rPr>
              <a:t>Original_value_range_en</a:t>
            </a:r>
            <a:endParaRPr b="1" sz="9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rPr b="1" lang="en-CA" sz="900">
                <a:solidFill>
                  <a:schemeClr val="lt2"/>
                </a:solidFill>
                <a:latin typeface="Source Sans Pro"/>
                <a:ea typeface="Source Sans Pro"/>
                <a:cs typeface="Source Sans Pro"/>
                <a:sym typeface="Source Sans Pro"/>
              </a:rPr>
              <a:t>…</a:t>
            </a:r>
            <a:endParaRPr b="1" sz="900">
              <a:solidFill>
                <a:schemeClr val="lt2"/>
              </a:solidFill>
              <a:latin typeface="Source Sans Pro"/>
              <a:ea typeface="Source Sans Pro"/>
              <a:cs typeface="Source Sans Pro"/>
              <a:sym typeface="Source Sans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 name="Shape 91"/>
        <p:cNvGrpSpPr/>
        <p:nvPr/>
      </p:nvGrpSpPr>
      <p:grpSpPr>
        <a:xfrm>
          <a:off x="0" y="0"/>
          <a:ext cx="0" cy="0"/>
          <a:chOff x="0" y="0"/>
          <a:chExt cx="0" cy="0"/>
        </a:xfrm>
      </p:grpSpPr>
      <p:sp>
        <p:nvSpPr>
          <p:cNvPr id="92" name="Google Shape;92;p18"/>
          <p:cNvSpPr txBox="1"/>
          <p:nvPr>
            <p:ph type="title"/>
          </p:nvPr>
        </p:nvSpPr>
        <p:spPr>
          <a:xfrm>
            <a:off x="250950" y="303300"/>
            <a:ext cx="8520600" cy="707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990"/>
              <a:buNone/>
            </a:pPr>
            <a:r>
              <a:rPr lang="en-CA" sz="2600"/>
              <a:t>Preliminary Result</a:t>
            </a:r>
            <a:endParaRPr sz="2600"/>
          </a:p>
          <a:p>
            <a:pPr indent="0" lvl="0" marL="0" rtl="0" algn="l">
              <a:spcBef>
                <a:spcPts val="0"/>
              </a:spcBef>
              <a:spcAft>
                <a:spcPts val="0"/>
              </a:spcAft>
              <a:buSzPts val="990"/>
              <a:buNone/>
            </a:pPr>
            <a:r>
              <a:t/>
            </a:r>
            <a:endParaRPr sz="2700"/>
          </a:p>
        </p:txBody>
      </p:sp>
      <p:pic>
        <p:nvPicPr>
          <p:cNvPr id="93" name="Google Shape;93;p18"/>
          <p:cNvPicPr preferRelativeResize="0"/>
          <p:nvPr/>
        </p:nvPicPr>
        <p:blipFill>
          <a:blip r:embed="rId3">
            <a:alphaModFix/>
          </a:blip>
          <a:stretch>
            <a:fillRect/>
          </a:stretch>
        </p:blipFill>
        <p:spPr>
          <a:xfrm>
            <a:off x="279638" y="2571750"/>
            <a:ext cx="8584726" cy="1708800"/>
          </a:xfrm>
          <a:prstGeom prst="rect">
            <a:avLst/>
          </a:prstGeom>
          <a:noFill/>
          <a:ln>
            <a:noFill/>
          </a:ln>
        </p:spPr>
      </p:pic>
      <p:sp>
        <p:nvSpPr>
          <p:cNvPr id="94" name="Google Shape;94;p18"/>
          <p:cNvSpPr txBox="1"/>
          <p:nvPr/>
        </p:nvSpPr>
        <p:spPr>
          <a:xfrm>
            <a:off x="0" y="4518225"/>
            <a:ext cx="9144000" cy="400200"/>
          </a:xfrm>
          <a:prstGeom prst="rect">
            <a:avLst/>
          </a:prstGeom>
          <a:solidFill>
            <a:srgbClr val="CCCCCC"/>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Source Sans Pro"/>
              <a:buChar char="❏"/>
            </a:pPr>
            <a:r>
              <a:rPr lang="en-CA">
                <a:solidFill>
                  <a:schemeClr val="dk2"/>
                </a:solidFill>
                <a:latin typeface="Source Sans Pro"/>
                <a:ea typeface="Source Sans Pro"/>
                <a:cs typeface="Source Sans Pro"/>
                <a:sym typeface="Source Sans Pro"/>
              </a:rPr>
              <a:t>Despite the PSIB initiative, Indigenous businesses still capture a minor portion of total contract value</a:t>
            </a:r>
            <a:endParaRPr>
              <a:solidFill>
                <a:schemeClr val="dk2"/>
              </a:solidFill>
              <a:latin typeface="Source Sans Pro"/>
              <a:ea typeface="Source Sans Pro"/>
              <a:cs typeface="Source Sans Pro"/>
              <a:sym typeface="Source Sans Pro"/>
            </a:endParaRPr>
          </a:p>
        </p:txBody>
      </p:sp>
      <p:pic>
        <p:nvPicPr>
          <p:cNvPr id="95" name="Google Shape;95;p18"/>
          <p:cNvPicPr preferRelativeResize="0"/>
          <p:nvPr/>
        </p:nvPicPr>
        <p:blipFill>
          <a:blip r:embed="rId4">
            <a:alphaModFix/>
          </a:blip>
          <a:stretch>
            <a:fillRect/>
          </a:stretch>
        </p:blipFill>
        <p:spPr>
          <a:xfrm>
            <a:off x="211025" y="1010700"/>
            <a:ext cx="8721971" cy="1469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2" name="Google Shape;102;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0"/>
          <p:cNvPicPr preferRelativeResize="0"/>
          <p:nvPr/>
        </p:nvPicPr>
        <p:blipFill>
          <a:blip r:embed="rId3">
            <a:alphaModFix/>
          </a:blip>
          <a:stretch>
            <a:fillRect/>
          </a:stretch>
        </p:blipFill>
        <p:spPr>
          <a:xfrm>
            <a:off x="152400" y="152400"/>
            <a:ext cx="8143181" cy="48387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1"/>
          <p:cNvPicPr preferRelativeResize="0"/>
          <p:nvPr/>
        </p:nvPicPr>
        <p:blipFill>
          <a:blip r:embed="rId3">
            <a:alphaModFix/>
          </a:blip>
          <a:stretch>
            <a:fillRect/>
          </a:stretch>
        </p:blipFill>
        <p:spPr>
          <a:xfrm>
            <a:off x="152400" y="152400"/>
            <a:ext cx="8839200" cy="47234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p:cNvPicPr preferRelativeResize="0"/>
          <p:nvPr/>
        </p:nvPicPr>
        <p:blipFill rotWithShape="1">
          <a:blip r:embed="rId3">
            <a:alphaModFix/>
          </a:blip>
          <a:srcRect b="0" l="-1719" r="0" t="0"/>
          <a:stretch/>
        </p:blipFill>
        <p:spPr>
          <a:xfrm>
            <a:off x="0" y="0"/>
            <a:ext cx="9086176"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 name="Shape 121"/>
        <p:cNvGrpSpPr/>
        <p:nvPr/>
      </p:nvGrpSpPr>
      <p:grpSpPr>
        <a:xfrm>
          <a:off x="0" y="0"/>
          <a:ext cx="0" cy="0"/>
          <a:chOff x="0" y="0"/>
          <a:chExt cx="0" cy="0"/>
        </a:xfrm>
      </p:grpSpPr>
      <p:pic>
        <p:nvPicPr>
          <p:cNvPr id="122" name="Google Shape;122;p23"/>
          <p:cNvPicPr preferRelativeResize="0"/>
          <p:nvPr/>
        </p:nvPicPr>
        <p:blipFill>
          <a:blip r:embed="rId3">
            <a:alphaModFix/>
          </a:blip>
          <a:stretch>
            <a:fillRect/>
          </a:stretch>
        </p:blipFill>
        <p:spPr>
          <a:xfrm>
            <a:off x="0" y="173350"/>
            <a:ext cx="9083251" cy="48987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pic>
        <p:nvPicPr>
          <p:cNvPr id="127" name="Google Shape;127;p2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 Analysis Objectives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3" name="Google Shape;133;p25"/>
          <p:cNvSpPr txBox="1"/>
          <p:nvPr>
            <p:ph idx="1" type="body"/>
          </p:nvPr>
        </p:nvSpPr>
        <p:spPr>
          <a:xfrm>
            <a:off x="200325" y="1111975"/>
            <a:ext cx="8520600" cy="3798000"/>
          </a:xfrm>
          <a:prstGeom prst="rect">
            <a:avLst/>
          </a:prstGeom>
        </p:spPr>
        <p:txBody>
          <a:bodyPr anchorCtr="0" anchor="t" bIns="91425" lIns="91425" spcFirstLastPara="1" rIns="91425" wrap="square" tIns="91425">
            <a:normAutofit fontScale="77500" lnSpcReduction="20000"/>
          </a:bodyPr>
          <a:lstStyle/>
          <a:p>
            <a:pPr indent="-292576" lvl="0" marL="457200" rtl="0" algn="l">
              <a:spcBef>
                <a:spcPts val="0"/>
              </a:spcBef>
              <a:spcAft>
                <a:spcPts val="0"/>
              </a:spcAft>
              <a:buClr>
                <a:srgbClr val="2D3B45"/>
              </a:buClr>
              <a:buSzPct val="100000"/>
              <a:buFont typeface="Arial"/>
              <a:buChar char="●"/>
            </a:pPr>
            <a:r>
              <a:rPr lang="en-CA" sz="1300">
                <a:solidFill>
                  <a:srgbClr val="2D3B45"/>
                </a:solidFill>
                <a:highlight>
                  <a:srgbClr val="FFFFFF"/>
                </a:highlight>
                <a:latin typeface="Arial"/>
                <a:ea typeface="Arial"/>
                <a:cs typeface="Arial"/>
                <a:sym typeface="Arial"/>
              </a:rPr>
              <a:t>Proportion of the number and amount of contracts</a:t>
            </a:r>
            <a:endParaRPr sz="1300">
              <a:solidFill>
                <a:srgbClr val="2D3B45"/>
              </a:solidFill>
              <a:highlight>
                <a:srgbClr val="FFFFFF"/>
              </a:highlight>
              <a:latin typeface="Arial"/>
              <a:ea typeface="Arial"/>
              <a:cs typeface="Arial"/>
              <a:sym typeface="Arial"/>
            </a:endParaRPr>
          </a:p>
          <a:p>
            <a:pPr indent="-292576" lvl="0" marL="457200" rtl="0" algn="l">
              <a:spcBef>
                <a:spcPts val="0"/>
              </a:spcBef>
              <a:spcAft>
                <a:spcPts val="0"/>
              </a:spcAft>
              <a:buClr>
                <a:srgbClr val="2D3B45"/>
              </a:buClr>
              <a:buSzPct val="100000"/>
              <a:buFont typeface="Arial"/>
              <a:buChar char="●"/>
            </a:pPr>
            <a:r>
              <a:rPr lang="en-CA" sz="1300">
                <a:solidFill>
                  <a:srgbClr val="2D3B45"/>
                </a:solidFill>
                <a:highlight>
                  <a:srgbClr val="FFFFFF"/>
                </a:highlight>
                <a:latin typeface="Arial"/>
                <a:ea typeface="Arial"/>
                <a:cs typeface="Arial"/>
                <a:sym typeface="Arial"/>
              </a:rPr>
              <a:t>Details of non-</a:t>
            </a:r>
            <a:r>
              <a:rPr lang="en-CA" sz="1300">
                <a:solidFill>
                  <a:srgbClr val="2D3B45"/>
                </a:solidFill>
                <a:highlight>
                  <a:srgbClr val="FFFFFF"/>
                </a:highlight>
                <a:latin typeface="Arial"/>
                <a:ea typeface="Arial"/>
                <a:cs typeface="Arial"/>
                <a:sym typeface="Arial"/>
              </a:rPr>
              <a:t>Indigenous Business(IB)</a:t>
            </a:r>
            <a:r>
              <a:rPr lang="en-CA" sz="1300">
                <a:solidFill>
                  <a:srgbClr val="2D3B45"/>
                </a:solidFill>
                <a:highlight>
                  <a:srgbClr val="FFFFFF"/>
                </a:highlight>
                <a:latin typeface="Arial"/>
                <a:ea typeface="Arial"/>
                <a:cs typeface="Arial"/>
                <a:sym typeface="Arial"/>
              </a:rPr>
              <a:t> contracts in the</a:t>
            </a:r>
            <a:r>
              <a:rPr lang="en-CA" sz="1300">
                <a:solidFill>
                  <a:srgbClr val="2D3B45"/>
                </a:solidFill>
                <a:highlight>
                  <a:srgbClr val="FFFFFF"/>
                </a:highlight>
                <a:latin typeface="Arial"/>
                <a:ea typeface="Arial"/>
                <a:cs typeface="Arial"/>
                <a:sym typeface="Arial"/>
              </a:rPr>
              <a:t> proportion </a:t>
            </a:r>
            <a:endParaRPr sz="1300">
              <a:solidFill>
                <a:srgbClr val="2D3B45"/>
              </a:solidFill>
              <a:highlight>
                <a:srgbClr val="FFFFFF"/>
              </a:highlight>
              <a:latin typeface="Arial"/>
              <a:ea typeface="Arial"/>
              <a:cs typeface="Arial"/>
              <a:sym typeface="Arial"/>
            </a:endParaRPr>
          </a:p>
          <a:p>
            <a:pPr indent="-292576" lvl="0" marL="457200" rtl="0" algn="l">
              <a:spcBef>
                <a:spcPts val="0"/>
              </a:spcBef>
              <a:spcAft>
                <a:spcPts val="0"/>
              </a:spcAft>
              <a:buClr>
                <a:srgbClr val="2D3B45"/>
              </a:buClr>
              <a:buSzPct val="100000"/>
              <a:buFont typeface="Arial"/>
              <a:buChar char="●"/>
            </a:pPr>
            <a:r>
              <a:rPr lang="en-CA" sz="1300">
                <a:solidFill>
                  <a:srgbClr val="2D3B45"/>
                </a:solidFill>
                <a:highlight>
                  <a:schemeClr val="lt1"/>
                </a:highlight>
                <a:latin typeface="Arial"/>
                <a:ea typeface="Arial"/>
                <a:cs typeface="Arial"/>
                <a:sym typeface="Arial"/>
              </a:rPr>
              <a:t>Identify the proportion of contracts in different sectors(focus on the techpart).</a:t>
            </a:r>
            <a:endParaRPr sz="1300">
              <a:solidFill>
                <a:srgbClr val="2D3B45"/>
              </a:solidFill>
              <a:highlight>
                <a:srgbClr val="FFFFFF"/>
              </a:highlight>
              <a:latin typeface="Arial"/>
              <a:ea typeface="Arial"/>
              <a:cs typeface="Arial"/>
              <a:sym typeface="Arial"/>
            </a:endParaRPr>
          </a:p>
          <a:p>
            <a:pPr indent="-292576" lvl="0" marL="457200" rtl="0" algn="l">
              <a:spcBef>
                <a:spcPts val="0"/>
              </a:spcBef>
              <a:spcAft>
                <a:spcPts val="0"/>
              </a:spcAft>
              <a:buClr>
                <a:srgbClr val="2D3B45"/>
              </a:buClr>
              <a:buSzPct val="100000"/>
              <a:buFont typeface="Arial"/>
              <a:buChar char="●"/>
            </a:pPr>
            <a:r>
              <a:rPr lang="en-CA" sz="1300">
                <a:solidFill>
                  <a:srgbClr val="2D3B45"/>
                </a:solidFill>
                <a:highlight>
                  <a:srgbClr val="FFFFFF"/>
                </a:highlight>
                <a:latin typeface="Arial"/>
                <a:ea typeface="Arial"/>
                <a:cs typeface="Arial"/>
                <a:sym typeface="Arial"/>
              </a:rPr>
              <a:t>Based on the analysis above, we'll use the top 20 tech companies list provided by ITC to pick some representative companies and analyze the reasons behind their success.</a:t>
            </a:r>
            <a:endParaRPr sz="1300">
              <a:solidFill>
                <a:srgbClr val="2D3B45"/>
              </a:solidFill>
              <a:highlight>
                <a:srgbClr val="FFFFFF"/>
              </a:highlight>
              <a:latin typeface="Arial"/>
              <a:ea typeface="Arial"/>
              <a:cs typeface="Arial"/>
              <a:sym typeface="Arial"/>
            </a:endParaRPr>
          </a:p>
          <a:p>
            <a:pPr indent="0" lvl="0" marL="0" rtl="0" algn="l">
              <a:spcBef>
                <a:spcPts val="0"/>
              </a:spcBef>
              <a:spcAft>
                <a:spcPts val="0"/>
              </a:spcAft>
              <a:buNone/>
            </a:pPr>
            <a:r>
              <a:t/>
            </a:r>
            <a:endParaRPr sz="1300">
              <a:solidFill>
                <a:srgbClr val="2D3B45"/>
              </a:solidFill>
              <a:highlight>
                <a:srgbClr val="FFFFFF"/>
              </a:highlight>
              <a:latin typeface="Arial"/>
              <a:ea typeface="Arial"/>
              <a:cs typeface="Arial"/>
              <a:sym typeface="Arial"/>
            </a:endParaRPr>
          </a:p>
          <a:p>
            <a:pPr indent="0" lvl="0" marL="0" rtl="0" algn="l">
              <a:spcBef>
                <a:spcPts val="0"/>
              </a:spcBef>
              <a:spcAft>
                <a:spcPts val="0"/>
              </a:spcAft>
              <a:buNone/>
            </a:pPr>
            <a:r>
              <a:rPr lang="en-CA" sz="1700"/>
              <a:t>Overview of Our Dataset</a:t>
            </a:r>
            <a:endParaRPr sz="1700"/>
          </a:p>
          <a:p>
            <a:pPr indent="-307340" lvl="0" marL="457200" rtl="0" algn="l">
              <a:spcBef>
                <a:spcPts val="1200"/>
              </a:spcBef>
              <a:spcAft>
                <a:spcPts val="0"/>
              </a:spcAft>
              <a:buSzPct val="100000"/>
              <a:buChar char="●"/>
            </a:pPr>
            <a:r>
              <a:rPr lang="en-CA" sz="1600"/>
              <a:t>Government Contracts (2023)     </a:t>
            </a:r>
            <a:endParaRPr sz="1600"/>
          </a:p>
          <a:p>
            <a:pPr indent="0" lvl="0" marL="457200" rtl="0" algn="l">
              <a:spcBef>
                <a:spcPts val="1200"/>
              </a:spcBef>
              <a:spcAft>
                <a:spcPts val="0"/>
              </a:spcAft>
              <a:buNone/>
            </a:pPr>
            <a:r>
              <a:rPr lang="en-CA" sz="1600"/>
              <a:t>Total Entries: 81,000</a:t>
            </a:r>
            <a:endParaRPr sz="1600"/>
          </a:p>
          <a:p>
            <a:pPr indent="0" lvl="0" marL="457200" rtl="0" algn="l">
              <a:spcBef>
                <a:spcPts val="1200"/>
              </a:spcBef>
              <a:spcAft>
                <a:spcPts val="0"/>
              </a:spcAft>
              <a:buNone/>
            </a:pPr>
            <a:r>
              <a:rPr lang="en-CA" sz="1600"/>
              <a:t>Attributes: 48</a:t>
            </a:r>
            <a:endParaRPr sz="1600"/>
          </a:p>
          <a:p>
            <a:pPr indent="0" lvl="0" marL="457200" rtl="0" algn="l">
              <a:spcBef>
                <a:spcPts val="1200"/>
              </a:spcBef>
              <a:spcAft>
                <a:spcPts val="0"/>
              </a:spcAft>
              <a:buNone/>
            </a:pPr>
            <a:r>
              <a:t/>
            </a:r>
            <a:endParaRPr sz="1600"/>
          </a:p>
          <a:p>
            <a:pPr indent="0" lvl="0" marL="0" rtl="0" algn="l">
              <a:spcBef>
                <a:spcPts val="1200"/>
              </a:spcBef>
              <a:spcAft>
                <a:spcPts val="0"/>
              </a:spcAft>
              <a:buClr>
                <a:schemeClr val="dk2"/>
              </a:buClr>
              <a:buSzPct val="61111"/>
              <a:buFont typeface="Arial"/>
              <a:buNone/>
            </a:pPr>
            <a:r>
              <a:rPr lang="en-CA"/>
              <a:t>CCIB - 2561 Indigenous Business</a:t>
            </a:r>
            <a:endParaRPr/>
          </a:p>
          <a:p>
            <a:pPr indent="0" lvl="0" marL="0" rtl="0" algn="l">
              <a:spcBef>
                <a:spcPts val="1200"/>
              </a:spcBef>
              <a:spcAft>
                <a:spcPts val="0"/>
              </a:spcAft>
              <a:buClr>
                <a:schemeClr val="dk2"/>
              </a:buClr>
              <a:buSzPct val="61111"/>
              <a:buFont typeface="Arial"/>
              <a:buNone/>
            </a:pPr>
            <a:r>
              <a:t/>
            </a:r>
            <a:endParaRPr/>
          </a:p>
          <a:p>
            <a:pPr indent="0" lvl="0" marL="0" rtl="0" algn="l">
              <a:spcBef>
                <a:spcPts val="1200"/>
              </a:spcBef>
              <a:spcAft>
                <a:spcPts val="1200"/>
              </a:spcAft>
              <a:buNone/>
            </a:pPr>
            <a:r>
              <a:t/>
            </a:r>
            <a:endParaRPr/>
          </a:p>
        </p:txBody>
      </p:sp>
      <p:sp>
        <p:nvSpPr>
          <p:cNvPr id="134" name="Google Shape;134;p25"/>
          <p:cNvSpPr txBox="1"/>
          <p:nvPr/>
        </p:nvSpPr>
        <p:spPr>
          <a:xfrm>
            <a:off x="3304100" y="2041225"/>
            <a:ext cx="5974500" cy="1939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2"/>
              </a:buClr>
              <a:buSzPts val="1600"/>
              <a:buFont typeface="Source Sans Pro"/>
              <a:buChar char="●"/>
            </a:pPr>
            <a:r>
              <a:rPr lang="en-CA" sz="1600">
                <a:solidFill>
                  <a:schemeClr val="lt2"/>
                </a:solidFill>
                <a:latin typeface="Source Sans Pro"/>
                <a:ea typeface="Source Sans Pro"/>
                <a:cs typeface="Source Sans Pro"/>
                <a:sym typeface="Source Sans Pro"/>
              </a:rPr>
              <a:t>Indigenous Business Directory - Company Profiles</a:t>
            </a:r>
            <a:endParaRPr sz="1600">
              <a:solidFill>
                <a:schemeClr val="lt2"/>
              </a:solidFill>
              <a:latin typeface="Source Sans Pro"/>
              <a:ea typeface="Source Sans Pro"/>
              <a:cs typeface="Source Sans Pro"/>
              <a:sym typeface="Source Sans Pro"/>
            </a:endParaRPr>
          </a:p>
          <a:p>
            <a:pPr indent="0" lvl="0" marL="457200" rtl="0" algn="l">
              <a:spcBef>
                <a:spcPts val="0"/>
              </a:spcBef>
              <a:spcAft>
                <a:spcPts val="0"/>
              </a:spcAft>
              <a:buNone/>
            </a:pPr>
            <a:r>
              <a:rPr lang="en-CA" sz="1600">
                <a:solidFill>
                  <a:schemeClr val="lt2"/>
                </a:solidFill>
                <a:latin typeface="Source Sans Pro"/>
                <a:ea typeface="Source Sans Pro"/>
                <a:cs typeface="Source Sans Pro"/>
                <a:sym typeface="Source Sans Pro"/>
              </a:rPr>
              <a:t>Total Entries: 2,960</a:t>
            </a:r>
            <a:endParaRPr sz="1600">
              <a:solidFill>
                <a:schemeClr val="lt2"/>
              </a:solidFill>
              <a:latin typeface="Source Sans Pro"/>
              <a:ea typeface="Source Sans Pro"/>
              <a:cs typeface="Source Sans Pro"/>
              <a:sym typeface="Source Sans Pro"/>
            </a:endParaRPr>
          </a:p>
          <a:p>
            <a:pPr indent="0" lvl="0" marL="457200" rtl="0" algn="l">
              <a:spcBef>
                <a:spcPts val="0"/>
              </a:spcBef>
              <a:spcAft>
                <a:spcPts val="0"/>
              </a:spcAft>
              <a:buNone/>
            </a:pPr>
            <a:r>
              <a:rPr lang="en-CA" sz="1600">
                <a:solidFill>
                  <a:schemeClr val="lt2"/>
                </a:solidFill>
                <a:latin typeface="Source Sans Pro"/>
                <a:ea typeface="Source Sans Pro"/>
                <a:cs typeface="Source Sans Pro"/>
                <a:sym typeface="Source Sans Pro"/>
              </a:rPr>
              <a:t>Attributes: 20</a:t>
            </a:r>
            <a:endParaRPr sz="16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t/>
            </a:r>
            <a:endParaRPr sz="1600">
              <a:solidFill>
                <a:schemeClr val="lt2"/>
              </a:solidFill>
              <a:latin typeface="Source Sans Pro"/>
              <a:ea typeface="Source Sans Pro"/>
              <a:cs typeface="Source Sans Pro"/>
              <a:sym typeface="Source Sans Pro"/>
            </a:endParaRPr>
          </a:p>
          <a:p>
            <a:pPr indent="-330200" lvl="0" marL="457200" rtl="0" algn="l">
              <a:spcBef>
                <a:spcPts val="0"/>
              </a:spcBef>
              <a:spcAft>
                <a:spcPts val="0"/>
              </a:spcAft>
              <a:buClr>
                <a:schemeClr val="lt2"/>
              </a:buClr>
              <a:buSzPts val="1600"/>
              <a:buFont typeface="Source Sans Pro"/>
              <a:buChar char="●"/>
            </a:pPr>
            <a:r>
              <a:rPr lang="en-CA" sz="1600">
                <a:solidFill>
                  <a:schemeClr val="lt2"/>
                </a:solidFill>
                <a:latin typeface="Source Sans Pro"/>
                <a:ea typeface="Source Sans Pro"/>
                <a:cs typeface="Source Sans Pro"/>
                <a:sym typeface="Source Sans Pro"/>
              </a:rPr>
              <a:t>Tech Companies List：Includes 20 Major Tech Companies  </a:t>
            </a:r>
            <a:endParaRPr sz="16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t/>
            </a:r>
            <a:endParaRPr sz="1600">
              <a:solidFill>
                <a:schemeClr val="lt2"/>
              </a:solidFill>
              <a:latin typeface="Source Sans Pro"/>
              <a:ea typeface="Source Sans Pro"/>
              <a:cs typeface="Source Sans Pro"/>
              <a:sym typeface="Source Sans Pro"/>
            </a:endParaRPr>
          </a:p>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pic>
        <p:nvPicPr>
          <p:cNvPr id="135" name="Google Shape;135;p25"/>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36" name="Google Shape;136;p25"/>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137" name="Google Shape;137;p25"/>
          <p:cNvPicPr preferRelativeResize="0"/>
          <p:nvPr/>
        </p:nvPicPr>
        <p:blipFill>
          <a:blip r:embed="rId5">
            <a:alphaModFix/>
          </a:blip>
          <a:stretch>
            <a:fillRect/>
          </a:stretch>
        </p:blipFill>
        <p:spPr>
          <a:xfrm>
            <a:off x="0" y="0"/>
            <a:ext cx="914400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Problem Statement</a:t>
            </a:r>
            <a:endParaRPr/>
          </a:p>
        </p:txBody>
      </p:sp>
      <p:sp>
        <p:nvSpPr>
          <p:cNvPr id="143" name="Google Shape;143;p26"/>
          <p:cNvSpPr txBox="1"/>
          <p:nvPr>
            <p:ph idx="1" type="body"/>
          </p:nvPr>
        </p:nvSpPr>
        <p:spPr>
          <a:xfrm>
            <a:off x="311700" y="1151925"/>
            <a:ext cx="8520600" cy="34164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0E0E0E"/>
              </a:buClr>
              <a:buSzPts val="1200"/>
              <a:buFont typeface="Arial"/>
              <a:buChar char="●"/>
            </a:pPr>
            <a:r>
              <a:rPr lang="en-CA" sz="1200">
                <a:solidFill>
                  <a:srgbClr val="0E0E0E"/>
                </a:solidFill>
                <a:latin typeface="Arial"/>
                <a:ea typeface="Arial"/>
                <a:cs typeface="Arial"/>
                <a:sym typeface="Arial"/>
              </a:rPr>
              <a:t>Indigenous tech companies face challenges in scaling and securing larger contracts due to complex procurement processes dominated by larger firms, despite government and corporate targets supporting Indigenous capacity development. At the same time, the rapid growth of technology businesses, including Indigenous-led companies, significantly contributes to global greenhouse gas emissions. Software, as a major driver of energy consumption, exacerbates these environmental challenges. However, the lack of a standardized framework for assessing software energy efficiency makes it difficult for Indigenous companies to align with sustainability goals. This project aims to address these issues by incorporating green software engineering principles, helping Indigenous businesses scale while contributing to global efforts in reducing emissions.</a:t>
            </a:r>
            <a:endParaRPr sz="1200">
              <a:solidFill>
                <a:srgbClr val="0E0E0E"/>
              </a:solidFill>
              <a:latin typeface="Arial"/>
              <a:ea typeface="Arial"/>
              <a:cs typeface="Arial"/>
              <a:sym typeface="Arial"/>
            </a:endParaRPr>
          </a:p>
          <a:p>
            <a:pPr indent="0" lvl="0" marL="457200" rtl="0" algn="just">
              <a:lnSpc>
                <a:spcPct val="150000"/>
              </a:lnSpc>
              <a:spcBef>
                <a:spcPts val="0"/>
              </a:spcBef>
              <a:spcAft>
                <a:spcPts val="0"/>
              </a:spcAft>
              <a:buNone/>
            </a:pPr>
            <a:r>
              <a:t/>
            </a:r>
            <a:endParaRPr sz="1250">
              <a:solidFill>
                <a:srgbClr val="0E0E0E"/>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Problem Statement</a:t>
            </a:r>
            <a:endParaRPr/>
          </a:p>
        </p:txBody>
      </p:sp>
      <p:sp>
        <p:nvSpPr>
          <p:cNvPr id="149" name="Google Shape;149;p27"/>
          <p:cNvSpPr txBox="1"/>
          <p:nvPr>
            <p:ph idx="1" type="body"/>
          </p:nvPr>
        </p:nvSpPr>
        <p:spPr>
          <a:xfrm>
            <a:off x="311700" y="1068425"/>
            <a:ext cx="8520600" cy="3782400"/>
          </a:xfrm>
          <a:prstGeom prst="rect">
            <a:avLst/>
          </a:prstGeom>
        </p:spPr>
        <p:txBody>
          <a:bodyPr anchorCtr="0" anchor="t" bIns="91425" lIns="91425" spcFirstLastPara="1" rIns="91425" wrap="square" tIns="91425">
            <a:noAutofit/>
          </a:bodyPr>
          <a:lstStyle/>
          <a:p>
            <a:pPr indent="-298450" lvl="0" marL="457200" marR="0" rtl="0" algn="l">
              <a:lnSpc>
                <a:spcPct val="150000"/>
              </a:lnSpc>
              <a:spcBef>
                <a:spcPts val="0"/>
              </a:spcBef>
              <a:spcAft>
                <a:spcPts val="0"/>
              </a:spcAft>
              <a:buClr>
                <a:srgbClr val="0E0E0E"/>
              </a:buClr>
              <a:buSzPts val="1100"/>
              <a:buFont typeface="Arial"/>
              <a:buChar char="●"/>
            </a:pPr>
            <a:r>
              <a:rPr b="1" lang="en-CA" sz="1100">
                <a:solidFill>
                  <a:srgbClr val="0E0E0E"/>
                </a:solidFill>
                <a:latin typeface="Arial"/>
                <a:ea typeface="Arial"/>
                <a:cs typeface="Arial"/>
                <a:sym typeface="Arial"/>
              </a:rPr>
              <a:t>Disadvantage in Growth Opportunities</a:t>
            </a:r>
            <a:endParaRPr b="1"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Indigenous businesses struggle to access growth opportunities</a:t>
            </a:r>
            <a:endParaRPr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Lack of larger contracts limits their scalability</a:t>
            </a:r>
            <a:endParaRPr sz="1100">
              <a:solidFill>
                <a:srgbClr val="0E0E0E"/>
              </a:solidFill>
              <a:latin typeface="Arial"/>
              <a:ea typeface="Arial"/>
              <a:cs typeface="Arial"/>
              <a:sym typeface="Arial"/>
            </a:endParaRPr>
          </a:p>
          <a:p>
            <a:pPr indent="-298450" lvl="0" marL="457200" marR="0" rtl="0" algn="l">
              <a:lnSpc>
                <a:spcPct val="150000"/>
              </a:lnSpc>
              <a:spcBef>
                <a:spcPts val="0"/>
              </a:spcBef>
              <a:spcAft>
                <a:spcPts val="0"/>
              </a:spcAft>
              <a:buClr>
                <a:srgbClr val="0E0E0E"/>
              </a:buClr>
              <a:buSzPts val="1100"/>
              <a:buFont typeface="Arial"/>
              <a:buChar char="●"/>
            </a:pPr>
            <a:r>
              <a:rPr b="1" lang="en-CA" sz="1100">
                <a:solidFill>
                  <a:srgbClr val="0E0E0E"/>
                </a:solidFill>
                <a:latin typeface="Arial"/>
                <a:ea typeface="Arial"/>
                <a:cs typeface="Arial"/>
                <a:sym typeface="Arial"/>
              </a:rPr>
              <a:t>Procurement Obstacles</a:t>
            </a:r>
            <a:endParaRPr b="1"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Indigenous tech companies face procurement barriers</a:t>
            </a:r>
            <a:endParaRPr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Struggles include creating competitive advantages and securing key contracts</a:t>
            </a:r>
            <a:endParaRPr sz="1100">
              <a:solidFill>
                <a:srgbClr val="0E0E0E"/>
              </a:solidFill>
              <a:latin typeface="Arial"/>
              <a:ea typeface="Arial"/>
              <a:cs typeface="Arial"/>
              <a:sym typeface="Arial"/>
            </a:endParaRPr>
          </a:p>
          <a:p>
            <a:pPr indent="-298450" lvl="0" marL="457200" marR="0" rtl="0" algn="l">
              <a:lnSpc>
                <a:spcPct val="150000"/>
              </a:lnSpc>
              <a:spcBef>
                <a:spcPts val="0"/>
              </a:spcBef>
              <a:spcAft>
                <a:spcPts val="0"/>
              </a:spcAft>
              <a:buClr>
                <a:srgbClr val="0E0E0E"/>
              </a:buClr>
              <a:buSzPts val="1100"/>
              <a:buFont typeface="Arial"/>
              <a:buChar char="●"/>
            </a:pPr>
            <a:r>
              <a:rPr b="1" lang="en-CA" sz="1100">
                <a:solidFill>
                  <a:srgbClr val="0E0E0E"/>
                </a:solidFill>
                <a:latin typeface="Arial"/>
                <a:ea typeface="Arial"/>
                <a:cs typeface="Arial"/>
                <a:sym typeface="Arial"/>
              </a:rPr>
              <a:t>ICT Expansion and Rising Environmental Impact</a:t>
            </a:r>
            <a:endParaRPr b="1"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ICT sector growth heavily increases global greenhouse gas emissions</a:t>
            </a:r>
            <a:endParaRPr sz="1100">
              <a:solidFill>
                <a:srgbClr val="0E0E0E"/>
              </a:solidFill>
              <a:latin typeface="Arial"/>
              <a:ea typeface="Arial"/>
              <a:cs typeface="Arial"/>
              <a:sym typeface="Arial"/>
            </a:endParaRPr>
          </a:p>
          <a:p>
            <a:pPr indent="-298450" lvl="1" marL="91440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Software drives energy consumption, worsening environmental issues</a:t>
            </a:r>
            <a:endParaRPr sz="1100">
              <a:solidFill>
                <a:srgbClr val="0E0E0E"/>
              </a:solidFill>
              <a:latin typeface="Arial"/>
              <a:ea typeface="Arial"/>
              <a:cs typeface="Arial"/>
              <a:sym typeface="Arial"/>
            </a:endParaRPr>
          </a:p>
          <a:p>
            <a:pPr indent="-298450" lvl="0" marL="457200" rtl="0" algn="l">
              <a:lnSpc>
                <a:spcPct val="150000"/>
              </a:lnSpc>
              <a:spcBef>
                <a:spcPts val="0"/>
              </a:spcBef>
              <a:spcAft>
                <a:spcPts val="0"/>
              </a:spcAft>
              <a:buClr>
                <a:srgbClr val="0E0E0E"/>
              </a:buClr>
              <a:buSzPts val="1100"/>
              <a:buFont typeface="Arial"/>
              <a:buChar char="●"/>
            </a:pPr>
            <a:r>
              <a:rPr b="1" lang="en-CA" sz="1100">
                <a:solidFill>
                  <a:srgbClr val="0E0E0E"/>
                </a:solidFill>
                <a:latin typeface="Arial"/>
                <a:ea typeface="Arial"/>
                <a:cs typeface="Arial"/>
                <a:sym typeface="Arial"/>
              </a:rPr>
              <a:t>Lack of a Unified Framework for Software Efficiency</a:t>
            </a:r>
            <a:endParaRPr b="1"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No standard framework to assess software energy efficiency</a:t>
            </a:r>
            <a:endParaRPr sz="1100">
              <a:solidFill>
                <a:srgbClr val="0E0E0E"/>
              </a:solidFill>
              <a:latin typeface="Arial"/>
              <a:ea typeface="Arial"/>
              <a:cs typeface="Arial"/>
              <a:sym typeface="Arial"/>
            </a:endParaRPr>
          </a:p>
          <a:p>
            <a:pPr indent="-298450" lvl="1" marL="914400" marR="0" rtl="0" algn="l">
              <a:lnSpc>
                <a:spcPct val="150000"/>
              </a:lnSpc>
              <a:spcBef>
                <a:spcPts val="0"/>
              </a:spcBef>
              <a:spcAft>
                <a:spcPts val="0"/>
              </a:spcAft>
              <a:buClr>
                <a:srgbClr val="0E0E0E"/>
              </a:buClr>
              <a:buSzPts val="1100"/>
              <a:buFont typeface="Arial"/>
              <a:buChar char="○"/>
            </a:pPr>
            <a:r>
              <a:rPr lang="en-CA" sz="1100">
                <a:solidFill>
                  <a:srgbClr val="0E0E0E"/>
                </a:solidFill>
                <a:latin typeface="Arial"/>
                <a:ea typeface="Arial"/>
                <a:cs typeface="Arial"/>
                <a:sym typeface="Arial"/>
              </a:rPr>
              <a:t>Indigenous tech companies struggle to meet sustainability goals</a:t>
            </a:r>
            <a:endParaRPr sz="1100">
              <a:solidFill>
                <a:srgbClr val="0E0E0E"/>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Problem Statement</a:t>
            </a:r>
            <a:endParaRPr/>
          </a:p>
        </p:txBody>
      </p:sp>
      <p:sp>
        <p:nvSpPr>
          <p:cNvPr id="155" name="Google Shape;155;p28"/>
          <p:cNvSpPr txBox="1"/>
          <p:nvPr>
            <p:ph idx="1" type="body"/>
          </p:nvPr>
        </p:nvSpPr>
        <p:spPr>
          <a:xfrm>
            <a:off x="311700" y="1151925"/>
            <a:ext cx="8520600" cy="3416400"/>
          </a:xfrm>
          <a:prstGeom prst="rect">
            <a:avLst/>
          </a:prstGeom>
        </p:spPr>
        <p:txBody>
          <a:bodyPr anchorCtr="0" anchor="t" bIns="91425" lIns="91425" spcFirstLastPara="1" rIns="91425" wrap="square" tIns="91425">
            <a:noAutofit/>
          </a:bodyPr>
          <a:lstStyle/>
          <a:p>
            <a:pPr indent="457200" lvl="0" marL="0" rtl="0" algn="just">
              <a:lnSpc>
                <a:spcPct val="200000"/>
              </a:lnSpc>
              <a:spcBef>
                <a:spcPts val="0"/>
              </a:spcBef>
              <a:spcAft>
                <a:spcPts val="0"/>
              </a:spcAft>
              <a:buNone/>
            </a:pPr>
            <a:r>
              <a:rPr lang="en-CA" sz="1100">
                <a:solidFill>
                  <a:srgbClr val="0E0E0E"/>
                </a:solidFill>
                <a:latin typeface="Arial"/>
                <a:ea typeface="Arial"/>
                <a:cs typeface="Arial"/>
                <a:sym typeface="Arial"/>
              </a:rPr>
              <a:t>The rapid growth of the Information and Communication Technology (ICT) sector is contributing significantly to global greenhouse gas emissions, accounting for approximately 2-3% of total emissions. Software plays a critical role in energy consumption, as it drives hardware usage, which in turn impacts resource and energy consumption. </a:t>
            </a:r>
            <a:r>
              <a:rPr b="1" lang="en-CA" sz="1100">
                <a:solidFill>
                  <a:srgbClr val="0E0E0E"/>
                </a:solidFill>
                <a:latin typeface="Arial"/>
                <a:ea typeface="Arial"/>
                <a:cs typeface="Arial"/>
                <a:sym typeface="Arial"/>
              </a:rPr>
              <a:t>However, there is currently no standardized framework for measuring software’s resource and energy efficiency. </a:t>
            </a:r>
            <a:r>
              <a:rPr lang="en-CA" sz="1100">
                <a:solidFill>
                  <a:srgbClr val="0E0E0E"/>
                </a:solidFill>
                <a:latin typeface="Arial"/>
                <a:ea typeface="Arial"/>
                <a:cs typeface="Arial"/>
                <a:sym typeface="Arial"/>
              </a:rPr>
              <a:t>This leads to inconsistent and incomparable results, hindering efforts to reduce software-driven environmental impacts.</a:t>
            </a:r>
            <a:endParaRPr sz="1100">
              <a:solidFill>
                <a:srgbClr val="0E0E0E"/>
              </a:solidFill>
              <a:latin typeface="Arial"/>
              <a:ea typeface="Arial"/>
              <a:cs typeface="Arial"/>
              <a:sym typeface="Arial"/>
            </a:endParaRPr>
          </a:p>
          <a:p>
            <a:pPr indent="457200" lvl="0" marL="0" rtl="0" algn="just">
              <a:lnSpc>
                <a:spcPct val="200000"/>
              </a:lnSpc>
              <a:spcBef>
                <a:spcPts val="0"/>
              </a:spcBef>
              <a:spcAft>
                <a:spcPts val="0"/>
              </a:spcAft>
              <a:buNone/>
            </a:pPr>
            <a:r>
              <a:rPr lang="en-CA" sz="1100">
                <a:solidFill>
                  <a:srgbClr val="0E0E0E"/>
                </a:solidFill>
                <a:latin typeface="Arial"/>
                <a:ea typeface="Arial"/>
                <a:cs typeface="Arial"/>
                <a:sym typeface="Arial"/>
              </a:rPr>
              <a:t>While various researchers and industry groups have developed tools and methods to measure energy consumption, there is no unified approach. The absence of a comprehensive measurement model complicates efforts to assess and improve the environmental efficiency of software. </a:t>
            </a:r>
            <a:r>
              <a:rPr b="1" lang="en-CA" sz="1100">
                <a:solidFill>
                  <a:srgbClr val="0E0E0E"/>
                </a:solidFill>
                <a:latin typeface="Arial"/>
                <a:ea typeface="Arial"/>
                <a:cs typeface="Arial"/>
                <a:sym typeface="Arial"/>
              </a:rPr>
              <a:t>Software practitioners lack the tools and guidelines to integrate energy efficiency into everyday software development processes.</a:t>
            </a:r>
            <a:endParaRPr sz="1100">
              <a:solidFill>
                <a:srgbClr val="0E0E0E"/>
              </a:solidFill>
              <a:latin typeface="Arial"/>
              <a:ea typeface="Arial"/>
              <a:cs typeface="Arial"/>
              <a:sym typeface="Arial"/>
            </a:endParaRPr>
          </a:p>
          <a:p>
            <a:pPr indent="-203200" lvl="0" marL="203200" rtl="0" algn="l">
              <a:spcBef>
                <a:spcPts val="0"/>
              </a:spcBef>
              <a:spcAft>
                <a:spcPts val="0"/>
              </a:spcAft>
              <a:buClr>
                <a:schemeClr val="dk2"/>
              </a:buClr>
              <a:buSzPts val="1100"/>
              <a:buFont typeface="Arial"/>
              <a:buNone/>
            </a:pPr>
            <a:r>
              <a:t/>
            </a:r>
            <a:endParaRPr b="1" sz="1050">
              <a:solidFill>
                <a:srgbClr val="0E0E0E"/>
              </a:solidFill>
              <a:latin typeface="Arial"/>
              <a:ea typeface="Arial"/>
              <a:cs typeface="Arial"/>
              <a:sym typeface="Arial"/>
            </a:endParaRPr>
          </a:p>
          <a:p>
            <a:pPr indent="0" lvl="0" marL="0" rtl="0" algn="l">
              <a:spcBef>
                <a:spcPts val="0"/>
              </a:spcBef>
              <a:spcAft>
                <a:spcPts val="0"/>
              </a:spcAft>
              <a:buNone/>
            </a:pPr>
            <a:r>
              <a:t/>
            </a:r>
            <a:endParaRPr sz="1200">
              <a:solidFill>
                <a:srgbClr val="2D3B45"/>
              </a:solidFill>
              <a:highlight>
                <a:srgbClr val="FFFFFF"/>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Problem</a:t>
            </a:r>
            <a:endParaRPr/>
          </a:p>
        </p:txBody>
      </p:sp>
      <p:sp>
        <p:nvSpPr>
          <p:cNvPr id="161" name="Google Shape;161;p29"/>
          <p:cNvSpPr txBox="1"/>
          <p:nvPr>
            <p:ph idx="1" type="body"/>
          </p:nvPr>
        </p:nvSpPr>
        <p:spPr>
          <a:xfrm>
            <a:off x="311700" y="1151925"/>
            <a:ext cx="8520600" cy="34164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CA" sz="1100">
                <a:solidFill>
                  <a:srgbClr val="0E0E0E"/>
                </a:solidFill>
                <a:latin typeface="Arial"/>
                <a:ea typeface="Arial"/>
                <a:cs typeface="Arial"/>
                <a:sym typeface="Arial"/>
              </a:rPr>
              <a:t>Environmental Impact of Software</a:t>
            </a:r>
            <a:r>
              <a:rPr lang="en-CA" sz="1100">
                <a:solidFill>
                  <a:srgbClr val="0E0E0E"/>
                </a:solidFill>
                <a:latin typeface="Arial"/>
                <a:ea typeface="Arial"/>
                <a:cs typeface="Arial"/>
                <a:sym typeface="Arial"/>
              </a:rPr>
              <a:t>: As digital transformation accelerates, software running on data centers, servers, and devices consumes significant energy, driving high hardware resource consumption and</a:t>
            </a:r>
            <a:r>
              <a:rPr b="1" lang="en-CA" sz="1100">
                <a:solidFill>
                  <a:srgbClr val="0E0E0E"/>
                </a:solidFill>
                <a:latin typeface="Arial"/>
                <a:ea typeface="Arial"/>
                <a:cs typeface="Arial"/>
                <a:sym typeface="Arial"/>
              </a:rPr>
              <a:t> increasing global greenhouse gas emissions</a:t>
            </a:r>
            <a:r>
              <a:rPr lang="en-CA" sz="1100">
                <a:solidFill>
                  <a:srgbClr val="0E0E0E"/>
                </a:solidFill>
                <a:latin typeface="Arial"/>
                <a:ea typeface="Arial"/>
                <a:cs typeface="Arial"/>
                <a:sym typeface="Arial"/>
              </a:rPr>
              <a:t>.</a:t>
            </a:r>
            <a:endParaRPr sz="1100">
              <a:solidFill>
                <a:srgbClr val="0E0E0E"/>
              </a:solidFill>
              <a:latin typeface="Arial"/>
              <a:ea typeface="Arial"/>
              <a:cs typeface="Arial"/>
              <a:sym typeface="Arial"/>
            </a:endParaRPr>
          </a:p>
          <a:p>
            <a:pPr indent="0" lvl="0" marL="0" rtl="0" algn="just">
              <a:lnSpc>
                <a:spcPct val="150000"/>
              </a:lnSpc>
              <a:spcBef>
                <a:spcPts val="0"/>
              </a:spcBef>
              <a:spcAft>
                <a:spcPts val="0"/>
              </a:spcAft>
              <a:buClr>
                <a:schemeClr val="dk2"/>
              </a:buClr>
              <a:buSzPts val="1100"/>
              <a:buFont typeface="Arial"/>
              <a:buNone/>
            </a:pPr>
            <a:r>
              <a:t/>
            </a:r>
            <a:endParaRPr sz="1100">
              <a:solidFill>
                <a:srgbClr val="0E0E0E"/>
              </a:solidFill>
              <a:latin typeface="Arial"/>
              <a:ea typeface="Arial"/>
              <a:cs typeface="Arial"/>
              <a:sym typeface="Arial"/>
            </a:endParaRPr>
          </a:p>
          <a:p>
            <a:pPr indent="0" lvl="0" marL="0" rtl="0" algn="just">
              <a:lnSpc>
                <a:spcPct val="150000"/>
              </a:lnSpc>
              <a:spcBef>
                <a:spcPts val="0"/>
              </a:spcBef>
              <a:spcAft>
                <a:spcPts val="0"/>
              </a:spcAft>
              <a:buNone/>
            </a:pPr>
            <a:r>
              <a:rPr b="1" lang="en-CA" sz="1100">
                <a:solidFill>
                  <a:srgbClr val="0E0E0E"/>
                </a:solidFill>
                <a:latin typeface="Arial"/>
                <a:ea typeface="Arial"/>
                <a:cs typeface="Arial"/>
                <a:sym typeface="Arial"/>
              </a:rPr>
              <a:t>Lack of Standardized Measurement</a:t>
            </a:r>
            <a:r>
              <a:rPr lang="en-CA" sz="1100">
                <a:solidFill>
                  <a:srgbClr val="0E0E0E"/>
                </a:solidFill>
                <a:latin typeface="Arial"/>
                <a:ea typeface="Arial"/>
                <a:cs typeface="Arial"/>
                <a:sym typeface="Arial"/>
              </a:rPr>
              <a:t>: Currently, there is no unified framework to measure software’s resource and energy efficiency, making it difficult to compare the environmental impact of different software, </a:t>
            </a:r>
            <a:r>
              <a:rPr b="1" lang="en-CA" sz="1100">
                <a:solidFill>
                  <a:srgbClr val="0E0E0E"/>
                </a:solidFill>
                <a:latin typeface="Arial"/>
                <a:ea typeface="Arial"/>
                <a:cs typeface="Arial"/>
                <a:sym typeface="Arial"/>
              </a:rPr>
              <a:t>which hinders developers from optimizing energy consumption</a:t>
            </a:r>
            <a:r>
              <a:rPr lang="en-CA" sz="1100">
                <a:solidFill>
                  <a:srgbClr val="0E0E0E"/>
                </a:solidFill>
                <a:latin typeface="Arial"/>
                <a:ea typeface="Arial"/>
                <a:cs typeface="Arial"/>
                <a:sym typeface="Arial"/>
              </a:rPr>
              <a:t>.</a:t>
            </a:r>
            <a:endParaRPr sz="1100">
              <a:solidFill>
                <a:srgbClr val="0E0E0E"/>
              </a:solidFill>
              <a:latin typeface="Arial"/>
              <a:ea typeface="Arial"/>
              <a:cs typeface="Arial"/>
              <a:sym typeface="Arial"/>
            </a:endParaRPr>
          </a:p>
          <a:p>
            <a:pPr indent="0" lvl="0" marL="0" rtl="0" algn="just">
              <a:lnSpc>
                <a:spcPct val="150000"/>
              </a:lnSpc>
              <a:spcBef>
                <a:spcPts val="0"/>
              </a:spcBef>
              <a:spcAft>
                <a:spcPts val="0"/>
              </a:spcAft>
              <a:buClr>
                <a:schemeClr val="dk2"/>
              </a:buClr>
              <a:buSzPts val="1100"/>
              <a:buFont typeface="Arial"/>
              <a:buNone/>
            </a:pPr>
            <a:r>
              <a:t/>
            </a:r>
            <a:endParaRPr sz="1100">
              <a:solidFill>
                <a:srgbClr val="0E0E0E"/>
              </a:solidFill>
              <a:latin typeface="Arial"/>
              <a:ea typeface="Arial"/>
              <a:cs typeface="Arial"/>
              <a:sym typeface="Arial"/>
            </a:endParaRPr>
          </a:p>
          <a:p>
            <a:pPr indent="0" lvl="0" marL="0" rtl="0" algn="just">
              <a:lnSpc>
                <a:spcPct val="150000"/>
              </a:lnSpc>
              <a:spcBef>
                <a:spcPts val="0"/>
              </a:spcBef>
              <a:spcAft>
                <a:spcPts val="0"/>
              </a:spcAft>
              <a:buNone/>
            </a:pPr>
            <a:r>
              <a:rPr b="1" lang="en-CA" sz="1100">
                <a:solidFill>
                  <a:srgbClr val="0E0E0E"/>
                </a:solidFill>
                <a:latin typeface="Arial"/>
                <a:ea typeface="Arial"/>
                <a:cs typeface="Arial"/>
                <a:sym typeface="Arial"/>
              </a:rPr>
              <a:t>Impact on Global Sustainability Goals</a:t>
            </a:r>
            <a:r>
              <a:rPr lang="en-CA" sz="1100">
                <a:solidFill>
                  <a:srgbClr val="0E0E0E"/>
                </a:solidFill>
                <a:latin typeface="Arial"/>
                <a:ea typeface="Arial"/>
                <a:cs typeface="Arial"/>
                <a:sym typeface="Arial"/>
              </a:rPr>
              <a:t>: Standardizing resource efficiency measurements not only </a:t>
            </a:r>
            <a:r>
              <a:rPr b="1" lang="en-CA" sz="1100">
                <a:solidFill>
                  <a:srgbClr val="0E0E0E"/>
                </a:solidFill>
                <a:latin typeface="Arial"/>
                <a:ea typeface="Arial"/>
                <a:cs typeface="Arial"/>
                <a:sym typeface="Arial"/>
              </a:rPr>
              <a:t>reduces energy consumption</a:t>
            </a:r>
            <a:r>
              <a:rPr lang="en-CA" sz="1100">
                <a:solidFill>
                  <a:srgbClr val="0E0E0E"/>
                </a:solidFill>
                <a:latin typeface="Arial"/>
                <a:ea typeface="Arial"/>
                <a:cs typeface="Arial"/>
                <a:sym typeface="Arial"/>
              </a:rPr>
              <a:t> in individual projects but also drives the entire </a:t>
            </a:r>
            <a:r>
              <a:rPr b="1" lang="en-CA" sz="1100">
                <a:solidFill>
                  <a:srgbClr val="0E0E0E"/>
                </a:solidFill>
                <a:latin typeface="Arial"/>
                <a:ea typeface="Arial"/>
                <a:cs typeface="Arial"/>
                <a:sym typeface="Arial"/>
              </a:rPr>
              <a:t>software development ecosystem toward a greener future</a:t>
            </a:r>
            <a:r>
              <a:rPr lang="en-CA" sz="1100">
                <a:solidFill>
                  <a:srgbClr val="0E0E0E"/>
                </a:solidFill>
                <a:latin typeface="Arial"/>
                <a:ea typeface="Arial"/>
                <a:cs typeface="Arial"/>
                <a:sym typeface="Arial"/>
              </a:rPr>
              <a:t>, contributing to global efforts to </a:t>
            </a:r>
            <a:r>
              <a:rPr b="1" lang="en-CA" sz="1100">
                <a:solidFill>
                  <a:srgbClr val="0E0E0E"/>
                </a:solidFill>
                <a:latin typeface="Arial"/>
                <a:ea typeface="Arial"/>
                <a:cs typeface="Arial"/>
                <a:sym typeface="Arial"/>
              </a:rPr>
              <a:t>reduce carbon emissions and combat climate change</a:t>
            </a:r>
            <a:r>
              <a:rPr lang="en-CA" sz="1100">
                <a:solidFill>
                  <a:srgbClr val="0E0E0E"/>
                </a:solidFill>
                <a:latin typeface="Arial"/>
                <a:ea typeface="Arial"/>
                <a:cs typeface="Arial"/>
                <a:sym typeface="Arial"/>
              </a:rPr>
              <a:t>.</a:t>
            </a:r>
            <a:endParaRPr sz="1100">
              <a:solidFill>
                <a:srgbClr val="2D3B45"/>
              </a:solidFill>
              <a:highlight>
                <a:srgbClr val="FFFFFF"/>
              </a:highlight>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Proposed Solution - literature review</a:t>
            </a:r>
            <a:endParaRPr/>
          </a:p>
          <a:p>
            <a:pPr indent="0" lvl="0" marL="0" rtl="0" algn="l">
              <a:spcBef>
                <a:spcPts val="0"/>
              </a:spcBef>
              <a:spcAft>
                <a:spcPts val="0"/>
              </a:spcAft>
              <a:buNone/>
            </a:pPr>
            <a:r>
              <a:t/>
            </a:r>
            <a:endParaRPr/>
          </a:p>
        </p:txBody>
      </p:sp>
      <p:sp>
        <p:nvSpPr>
          <p:cNvPr id="167" name="Google Shape;167;p30"/>
          <p:cNvSpPr txBox="1"/>
          <p:nvPr>
            <p:ph idx="1" type="body"/>
          </p:nvPr>
        </p:nvSpPr>
        <p:spPr>
          <a:xfrm>
            <a:off x="311700" y="1727100"/>
            <a:ext cx="8520600" cy="34164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Clr>
                <a:srgbClr val="233A44"/>
              </a:buClr>
              <a:buSzPts val="1300"/>
              <a:buFont typeface="Calibri"/>
              <a:buChar char="●"/>
            </a:pPr>
            <a:r>
              <a:rPr b="1" lang="en-CA" sz="1300">
                <a:solidFill>
                  <a:srgbClr val="233A44"/>
                </a:solidFill>
                <a:latin typeface="Calibri"/>
                <a:ea typeface="Calibri"/>
                <a:cs typeface="Calibri"/>
                <a:sym typeface="Calibri"/>
              </a:rPr>
              <a:t>Software practitioners are aware of the problem, but lack of resources and tools</a:t>
            </a:r>
            <a:br>
              <a:rPr b="1" lang="en-CA" sz="1300">
                <a:solidFill>
                  <a:srgbClr val="233A44"/>
                </a:solidFill>
                <a:latin typeface="Calibri"/>
                <a:ea typeface="Calibri"/>
                <a:cs typeface="Calibri"/>
                <a:sym typeface="Calibri"/>
              </a:rPr>
            </a:br>
            <a:r>
              <a:rPr lang="en-CA" sz="1300">
                <a:solidFill>
                  <a:srgbClr val="233A44"/>
                </a:solidFill>
                <a:latin typeface="Calibri"/>
                <a:ea typeface="Calibri"/>
                <a:cs typeface="Calibri"/>
                <a:sym typeface="Calibri"/>
              </a:rPr>
              <a:t>(An Empirical Study of Practitioners’ Perspectives on Green Software Engineering)</a:t>
            </a:r>
            <a:endParaRPr sz="1300">
              <a:solidFill>
                <a:srgbClr val="233A44"/>
              </a:solidFill>
              <a:latin typeface="Calibri"/>
              <a:ea typeface="Calibri"/>
              <a:cs typeface="Calibri"/>
              <a:sym typeface="Calibri"/>
            </a:endParaRPr>
          </a:p>
          <a:p>
            <a:pPr indent="-311150" lvl="0" marL="457200" rtl="0" algn="l">
              <a:lnSpc>
                <a:spcPct val="150000"/>
              </a:lnSpc>
              <a:spcBef>
                <a:spcPts val="1000"/>
              </a:spcBef>
              <a:spcAft>
                <a:spcPts val="0"/>
              </a:spcAft>
              <a:buClr>
                <a:srgbClr val="233A44"/>
              </a:buClr>
              <a:buSzPts val="1300"/>
              <a:buFont typeface="Calibri"/>
              <a:buChar char="●"/>
            </a:pPr>
            <a:r>
              <a:rPr b="1" lang="en-CA" sz="1300">
                <a:solidFill>
                  <a:srgbClr val="233A44"/>
                </a:solidFill>
                <a:latin typeface="Calibri"/>
                <a:ea typeface="Calibri"/>
                <a:cs typeface="Calibri"/>
                <a:sym typeface="Calibri"/>
              </a:rPr>
              <a:t>Requirement and Design phases are of most interest</a:t>
            </a:r>
            <a:br>
              <a:rPr b="1" lang="en-CA" sz="1300">
                <a:solidFill>
                  <a:srgbClr val="233A44"/>
                </a:solidFill>
                <a:latin typeface="Calibri"/>
                <a:ea typeface="Calibri"/>
                <a:cs typeface="Calibri"/>
                <a:sym typeface="Calibri"/>
              </a:rPr>
            </a:br>
            <a:r>
              <a:rPr lang="en-CA" sz="1300">
                <a:solidFill>
                  <a:srgbClr val="233A44"/>
                </a:solidFill>
                <a:latin typeface="Calibri"/>
                <a:ea typeface="Calibri"/>
                <a:cs typeface="Calibri"/>
                <a:sym typeface="Calibri"/>
              </a:rPr>
              <a:t>(Green and Sustainable Software Engineering - a Systematic Mapping Study)</a:t>
            </a:r>
            <a:endParaRPr sz="1300">
              <a:solidFill>
                <a:srgbClr val="233A44"/>
              </a:solidFill>
              <a:latin typeface="Calibri"/>
              <a:ea typeface="Calibri"/>
              <a:cs typeface="Calibri"/>
              <a:sym typeface="Calibri"/>
            </a:endParaRPr>
          </a:p>
          <a:p>
            <a:pPr indent="-311150" lvl="0" marL="457200" rtl="0" algn="l">
              <a:lnSpc>
                <a:spcPct val="150000"/>
              </a:lnSpc>
              <a:spcBef>
                <a:spcPts val="1000"/>
              </a:spcBef>
              <a:spcAft>
                <a:spcPts val="0"/>
              </a:spcAft>
              <a:buClr>
                <a:srgbClr val="233A44"/>
              </a:buClr>
              <a:buSzPts val="1300"/>
              <a:buFont typeface="Calibri"/>
              <a:buChar char="●"/>
            </a:pPr>
            <a:r>
              <a:rPr b="1" lang="en-CA" sz="1300">
                <a:solidFill>
                  <a:srgbClr val="233A44"/>
                </a:solidFill>
                <a:latin typeface="Calibri"/>
                <a:ea typeface="Calibri"/>
                <a:cs typeface="Calibri"/>
                <a:sym typeface="Calibri"/>
              </a:rPr>
              <a:t>Lessons</a:t>
            </a:r>
            <a:r>
              <a:rPr b="1" lang="en-CA" sz="1300">
                <a:solidFill>
                  <a:srgbClr val="233A44"/>
                </a:solidFill>
                <a:latin typeface="Calibri"/>
                <a:ea typeface="Calibri"/>
                <a:cs typeface="Calibri"/>
                <a:sym typeface="Calibri"/>
              </a:rPr>
              <a:t> that could be learned from Mobile Application Development</a:t>
            </a:r>
            <a:endParaRPr b="1" sz="1300">
              <a:solidFill>
                <a:srgbClr val="233A44"/>
              </a:solidFill>
              <a:latin typeface="Calibri"/>
              <a:ea typeface="Calibri"/>
              <a:cs typeface="Calibri"/>
              <a:sym typeface="Calibri"/>
            </a:endParaRPr>
          </a:p>
          <a:p>
            <a:pPr indent="-311150" lvl="1" marL="914400" rtl="0" algn="l">
              <a:lnSpc>
                <a:spcPct val="115000"/>
              </a:lnSpc>
              <a:spcBef>
                <a:spcPts val="1000"/>
              </a:spcBef>
              <a:spcAft>
                <a:spcPts val="0"/>
              </a:spcAft>
              <a:buClr>
                <a:srgbClr val="233A44"/>
              </a:buClr>
              <a:buSzPts val="1300"/>
              <a:buFont typeface="Calibri"/>
              <a:buChar char="○"/>
            </a:pPr>
            <a:r>
              <a:rPr lang="en-CA" sz="1300">
                <a:solidFill>
                  <a:srgbClr val="233A44"/>
                </a:solidFill>
                <a:latin typeface="Calibri"/>
                <a:ea typeface="Calibri"/>
                <a:cs typeface="Calibri"/>
                <a:sym typeface="Calibri"/>
              </a:rPr>
              <a:t>Reduce data size, caching</a:t>
            </a:r>
            <a:endParaRPr sz="1300">
              <a:solidFill>
                <a:srgbClr val="233A44"/>
              </a:solidFill>
              <a:latin typeface="Calibri"/>
              <a:ea typeface="Calibri"/>
              <a:cs typeface="Calibri"/>
              <a:sym typeface="Calibri"/>
            </a:endParaRPr>
          </a:p>
          <a:p>
            <a:pPr indent="-311150" lvl="1" marL="914400" rtl="0" algn="l">
              <a:lnSpc>
                <a:spcPct val="115000"/>
              </a:lnSpc>
              <a:spcBef>
                <a:spcPts val="0"/>
              </a:spcBef>
              <a:spcAft>
                <a:spcPts val="0"/>
              </a:spcAft>
              <a:buClr>
                <a:srgbClr val="233A44"/>
              </a:buClr>
              <a:buSzPts val="1300"/>
              <a:buFont typeface="Calibri"/>
              <a:buChar char="○"/>
            </a:pPr>
            <a:r>
              <a:rPr lang="en-CA" sz="1300">
                <a:solidFill>
                  <a:srgbClr val="233A44"/>
                </a:solidFill>
                <a:latin typeface="Calibri"/>
                <a:ea typeface="Calibri"/>
                <a:cs typeface="Calibri"/>
                <a:sym typeface="Calibri"/>
              </a:rPr>
              <a:t>Let server do the heavy lifting (data fetching)</a:t>
            </a:r>
            <a:endParaRPr sz="1300">
              <a:solidFill>
                <a:srgbClr val="233A44"/>
              </a:solidFill>
              <a:latin typeface="Calibri"/>
              <a:ea typeface="Calibri"/>
              <a:cs typeface="Calibri"/>
              <a:sym typeface="Calibri"/>
            </a:endParaRPr>
          </a:p>
          <a:p>
            <a:pPr indent="457200" lvl="0" marL="0" rtl="0" algn="l">
              <a:lnSpc>
                <a:spcPct val="115000"/>
              </a:lnSpc>
              <a:spcBef>
                <a:spcPts val="1000"/>
              </a:spcBef>
              <a:spcAft>
                <a:spcPts val="1000"/>
              </a:spcAft>
              <a:buNone/>
            </a:pPr>
            <a:r>
              <a:rPr lang="en-CA" sz="1300">
                <a:solidFill>
                  <a:srgbClr val="233A44"/>
                </a:solidFill>
                <a:latin typeface="Calibri"/>
                <a:ea typeface="Calibri"/>
                <a:cs typeface="Calibri"/>
                <a:sym typeface="Calibri"/>
              </a:rPr>
              <a:t>(RMVRVM - A Paradigm for Creating Energy Efficient User Applications Connected to Cloud through REST API)</a:t>
            </a:r>
            <a:br>
              <a:rPr lang="en-CA" sz="1300">
                <a:solidFill>
                  <a:srgbClr val="233A44"/>
                </a:solidFill>
                <a:latin typeface="Calibri"/>
                <a:ea typeface="Calibri"/>
                <a:cs typeface="Calibri"/>
                <a:sym typeface="Calibri"/>
              </a:rPr>
            </a:br>
            <a:r>
              <a:rPr lang="en-CA" sz="1300">
                <a:solidFill>
                  <a:srgbClr val="233A44"/>
                </a:solidFill>
                <a:latin typeface="Calibri"/>
                <a:ea typeface="Calibri"/>
                <a:cs typeface="Calibri"/>
                <a:sym typeface="Calibri"/>
              </a:rPr>
              <a:t>	(Energy Patterns for Web: An Exploratory Study)</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Proposed Solution - filling the gap</a:t>
            </a:r>
            <a:endParaRPr/>
          </a:p>
        </p:txBody>
      </p:sp>
      <p:sp>
        <p:nvSpPr>
          <p:cNvPr id="173" name="Google Shape;173;p31"/>
          <p:cNvSpPr txBox="1"/>
          <p:nvPr>
            <p:ph idx="1" type="body"/>
          </p:nvPr>
        </p:nvSpPr>
        <p:spPr>
          <a:xfrm>
            <a:off x="311700" y="1727100"/>
            <a:ext cx="8520600" cy="3416400"/>
          </a:xfrm>
          <a:prstGeom prst="rect">
            <a:avLst/>
          </a:prstGeom>
        </p:spPr>
        <p:txBody>
          <a:bodyPr anchorCtr="0" anchor="t" bIns="91425" lIns="91425" spcFirstLastPara="1" rIns="91425" wrap="square" tIns="91425">
            <a:noAutofit/>
          </a:bodyPr>
          <a:lstStyle/>
          <a:p>
            <a:pPr indent="-311308" lvl="0" marL="457200" rtl="0" algn="l">
              <a:lnSpc>
                <a:spcPct val="130000"/>
              </a:lnSpc>
              <a:spcBef>
                <a:spcPts val="0"/>
              </a:spcBef>
              <a:spcAft>
                <a:spcPts val="0"/>
              </a:spcAft>
              <a:buClr>
                <a:srgbClr val="233A44"/>
              </a:buClr>
              <a:buSzPts val="1303"/>
              <a:buFont typeface="Calibri"/>
              <a:buChar char="●"/>
            </a:pPr>
            <a:r>
              <a:rPr b="1" lang="en-CA" sz="1302">
                <a:solidFill>
                  <a:srgbClr val="233A44"/>
                </a:solidFill>
                <a:latin typeface="Calibri"/>
                <a:ea typeface="Calibri"/>
                <a:cs typeface="Calibri"/>
                <a:sym typeface="Calibri"/>
              </a:rPr>
              <a:t>Current studies are abstract because they:</a:t>
            </a:r>
            <a:endParaRPr b="1" sz="1302">
              <a:solidFill>
                <a:srgbClr val="233A44"/>
              </a:solidFill>
              <a:latin typeface="Calibri"/>
              <a:ea typeface="Calibri"/>
              <a:cs typeface="Calibri"/>
              <a:sym typeface="Calibri"/>
            </a:endParaRPr>
          </a:p>
          <a:p>
            <a:pPr indent="-299561" lvl="1" marL="914400" rtl="0" algn="l">
              <a:lnSpc>
                <a:spcPct val="130000"/>
              </a:lnSpc>
              <a:spcBef>
                <a:spcPts val="1000"/>
              </a:spcBef>
              <a:spcAft>
                <a:spcPts val="0"/>
              </a:spcAft>
              <a:buClr>
                <a:srgbClr val="233A44"/>
              </a:buClr>
              <a:buSzPts val="1118"/>
              <a:buFont typeface="Calibri"/>
              <a:buChar char="○"/>
            </a:pPr>
            <a:r>
              <a:rPr lang="en-CA" sz="1302">
                <a:solidFill>
                  <a:srgbClr val="233A44"/>
                </a:solidFill>
                <a:latin typeface="Calibri"/>
                <a:ea typeface="Calibri"/>
                <a:cs typeface="Calibri"/>
                <a:sym typeface="Calibri"/>
              </a:rPr>
              <a:t>either focus on best practices but without quantifying the impact</a:t>
            </a:r>
            <a:endParaRPr sz="1302">
              <a:solidFill>
                <a:srgbClr val="233A44"/>
              </a:solidFill>
              <a:latin typeface="Calibri"/>
              <a:ea typeface="Calibri"/>
              <a:cs typeface="Calibri"/>
              <a:sym typeface="Calibri"/>
            </a:endParaRPr>
          </a:p>
          <a:p>
            <a:pPr indent="-299561" lvl="1" marL="914400" rtl="0" algn="l">
              <a:lnSpc>
                <a:spcPct val="130000"/>
              </a:lnSpc>
              <a:spcBef>
                <a:spcPts val="1000"/>
              </a:spcBef>
              <a:spcAft>
                <a:spcPts val="0"/>
              </a:spcAft>
              <a:buClr>
                <a:srgbClr val="233A44"/>
              </a:buClr>
              <a:buSzPts val="1118"/>
              <a:buFont typeface="Calibri"/>
              <a:buChar char="○"/>
            </a:pPr>
            <a:r>
              <a:rPr lang="en-CA" sz="1302">
                <a:solidFill>
                  <a:srgbClr val="233A44"/>
                </a:solidFill>
                <a:latin typeface="Calibri"/>
                <a:ea typeface="Calibri"/>
                <a:cs typeface="Calibri"/>
                <a:sym typeface="Calibri"/>
              </a:rPr>
              <a:t>or propose an evaluation methodology without concrete examples from real-world scenarios</a:t>
            </a:r>
            <a:endParaRPr sz="1302">
              <a:solidFill>
                <a:srgbClr val="233A44"/>
              </a:solidFill>
              <a:latin typeface="Calibri"/>
              <a:ea typeface="Calibri"/>
              <a:cs typeface="Calibri"/>
              <a:sym typeface="Calibri"/>
            </a:endParaRPr>
          </a:p>
          <a:p>
            <a:pPr indent="-311308" lvl="0" marL="457200" rtl="0" algn="l">
              <a:lnSpc>
                <a:spcPct val="130000"/>
              </a:lnSpc>
              <a:spcBef>
                <a:spcPts val="1000"/>
              </a:spcBef>
              <a:spcAft>
                <a:spcPts val="0"/>
              </a:spcAft>
              <a:buClr>
                <a:srgbClr val="233A44"/>
              </a:buClr>
              <a:buSzPts val="1303"/>
              <a:buFont typeface="Calibri"/>
              <a:buChar char="●"/>
            </a:pPr>
            <a:r>
              <a:rPr b="1" lang="en-CA" sz="1302">
                <a:solidFill>
                  <a:srgbClr val="233A44"/>
                </a:solidFill>
                <a:latin typeface="Calibri"/>
                <a:ea typeface="Calibri"/>
                <a:cs typeface="Calibri"/>
                <a:sym typeface="Calibri"/>
              </a:rPr>
              <a:t>We aim to fill this gap by answering:</a:t>
            </a:r>
            <a:endParaRPr b="1" sz="1302">
              <a:solidFill>
                <a:srgbClr val="233A44"/>
              </a:solidFill>
              <a:latin typeface="Calibri"/>
              <a:ea typeface="Calibri"/>
              <a:cs typeface="Calibri"/>
              <a:sym typeface="Calibri"/>
            </a:endParaRPr>
          </a:p>
          <a:p>
            <a:pPr indent="-311308" lvl="1" marL="914400" rtl="0" algn="l">
              <a:lnSpc>
                <a:spcPct val="130000"/>
              </a:lnSpc>
              <a:spcBef>
                <a:spcPts val="1000"/>
              </a:spcBef>
              <a:spcAft>
                <a:spcPts val="0"/>
              </a:spcAft>
              <a:buClr>
                <a:srgbClr val="233A44"/>
              </a:buClr>
              <a:buSzPts val="1303"/>
              <a:buFont typeface="Calibri"/>
              <a:buChar char="○"/>
            </a:pPr>
            <a:r>
              <a:rPr lang="en-CA" sz="1302">
                <a:solidFill>
                  <a:srgbClr val="233A44"/>
                </a:solidFill>
                <a:latin typeface="Calibri"/>
                <a:ea typeface="Calibri"/>
                <a:cs typeface="Calibri"/>
                <a:sym typeface="Calibri"/>
              </a:rPr>
              <a:t>What are the options to consider for a greener system design?</a:t>
            </a:r>
            <a:endParaRPr sz="1302">
              <a:solidFill>
                <a:srgbClr val="233A44"/>
              </a:solidFill>
              <a:latin typeface="Calibri"/>
              <a:ea typeface="Calibri"/>
              <a:cs typeface="Calibri"/>
              <a:sym typeface="Calibri"/>
            </a:endParaRPr>
          </a:p>
          <a:p>
            <a:pPr indent="-311308" lvl="1" marL="914400" rtl="0" algn="l">
              <a:lnSpc>
                <a:spcPct val="130000"/>
              </a:lnSpc>
              <a:spcBef>
                <a:spcPts val="1000"/>
              </a:spcBef>
              <a:spcAft>
                <a:spcPts val="0"/>
              </a:spcAft>
              <a:buClr>
                <a:srgbClr val="233A44"/>
              </a:buClr>
              <a:buSzPts val="1303"/>
              <a:buFont typeface="Calibri"/>
              <a:buChar char="○"/>
            </a:pPr>
            <a:r>
              <a:rPr lang="en-CA" sz="1302">
                <a:solidFill>
                  <a:srgbClr val="233A44"/>
                </a:solidFill>
                <a:latin typeface="Calibri"/>
                <a:ea typeface="Calibri"/>
                <a:cs typeface="Calibri"/>
                <a:sym typeface="Calibri"/>
              </a:rPr>
              <a:t>How to quantify the impact of a greener solution by adopting existing tools?</a:t>
            </a:r>
            <a:endParaRPr sz="1302">
              <a:solidFill>
                <a:srgbClr val="233A44"/>
              </a:solidFill>
              <a:latin typeface="Calibri"/>
              <a:ea typeface="Calibri"/>
              <a:cs typeface="Calibri"/>
              <a:sym typeface="Calibri"/>
            </a:endParaRPr>
          </a:p>
          <a:p>
            <a:pPr indent="-311308" lvl="1" marL="914400" rtl="0" algn="l">
              <a:lnSpc>
                <a:spcPct val="130000"/>
              </a:lnSpc>
              <a:spcBef>
                <a:spcPts val="1000"/>
              </a:spcBef>
              <a:spcAft>
                <a:spcPts val="0"/>
              </a:spcAft>
              <a:buClr>
                <a:srgbClr val="233A44"/>
              </a:buClr>
              <a:buSzPts val="1303"/>
              <a:buFont typeface="Calibri"/>
              <a:buChar char="○"/>
            </a:pPr>
            <a:r>
              <a:rPr lang="en-CA" sz="1302">
                <a:solidFill>
                  <a:srgbClr val="233A44"/>
                </a:solidFill>
                <a:latin typeface="Calibri"/>
                <a:ea typeface="Calibri"/>
                <a:cs typeface="Calibri"/>
                <a:sym typeface="Calibri"/>
              </a:rPr>
              <a:t>Which components may have contributed to the most difference in energy consumption?</a:t>
            </a:r>
            <a:endParaRPr sz="1302">
              <a:solidFill>
                <a:srgbClr val="233A44"/>
              </a:solidFill>
              <a:latin typeface="Calibri"/>
              <a:ea typeface="Calibri"/>
              <a:cs typeface="Calibri"/>
              <a:sym typeface="Calibri"/>
            </a:endParaRPr>
          </a:p>
          <a:p>
            <a:pPr indent="0" lvl="0" marL="0" rtl="0" algn="l">
              <a:lnSpc>
                <a:spcPct val="130000"/>
              </a:lnSpc>
              <a:spcBef>
                <a:spcPts val="1000"/>
              </a:spcBef>
              <a:spcAft>
                <a:spcPts val="0"/>
              </a:spcAft>
              <a:buSzPts val="1018"/>
              <a:buNone/>
            </a:pPr>
            <a:r>
              <a:t/>
            </a:r>
            <a:endParaRPr sz="1302">
              <a:solidFill>
                <a:srgbClr val="233A44"/>
              </a:solidFill>
              <a:latin typeface="Calibri"/>
              <a:ea typeface="Calibri"/>
              <a:cs typeface="Calibri"/>
              <a:sym typeface="Calibri"/>
            </a:endParaRPr>
          </a:p>
          <a:p>
            <a:pPr indent="0" lvl="0" marL="0" rtl="0" algn="l">
              <a:lnSpc>
                <a:spcPct val="130000"/>
              </a:lnSpc>
              <a:spcBef>
                <a:spcPts val="1000"/>
              </a:spcBef>
              <a:spcAft>
                <a:spcPts val="1000"/>
              </a:spcAft>
              <a:buSzPts val="1018"/>
              <a:buNone/>
            </a:pPr>
            <a:r>
              <a:t/>
            </a:r>
            <a:endParaRPr b="1" sz="1302">
              <a:solidFill>
                <a:srgbClr val="233A44"/>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pic>
        <p:nvPicPr>
          <p:cNvPr id="178" name="Google Shape;178;p32"/>
          <p:cNvPicPr preferRelativeResize="0"/>
          <p:nvPr/>
        </p:nvPicPr>
        <p:blipFill>
          <a:blip r:embed="rId3">
            <a:alphaModFix/>
          </a:blip>
          <a:stretch>
            <a:fillRect/>
          </a:stretch>
        </p:blipFill>
        <p:spPr>
          <a:xfrm>
            <a:off x="806925" y="90975"/>
            <a:ext cx="7530138" cy="48387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1611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Evaluation for simulation</a:t>
            </a:r>
            <a:endParaRPr/>
          </a:p>
        </p:txBody>
      </p:sp>
      <p:pic>
        <p:nvPicPr>
          <p:cNvPr id="184" name="Google Shape;184;p33"/>
          <p:cNvPicPr preferRelativeResize="0"/>
          <p:nvPr/>
        </p:nvPicPr>
        <p:blipFill>
          <a:blip r:embed="rId3">
            <a:alphaModFix/>
          </a:blip>
          <a:stretch>
            <a:fillRect/>
          </a:stretch>
        </p:blipFill>
        <p:spPr>
          <a:xfrm>
            <a:off x="148800" y="703150"/>
            <a:ext cx="4073750" cy="2790300"/>
          </a:xfrm>
          <a:prstGeom prst="rect">
            <a:avLst/>
          </a:prstGeom>
          <a:noFill/>
          <a:ln>
            <a:noFill/>
          </a:ln>
        </p:spPr>
      </p:pic>
      <p:pic>
        <p:nvPicPr>
          <p:cNvPr id="185" name="Google Shape;185;p33"/>
          <p:cNvPicPr preferRelativeResize="0"/>
          <p:nvPr/>
        </p:nvPicPr>
        <p:blipFill>
          <a:blip r:embed="rId4">
            <a:alphaModFix/>
          </a:blip>
          <a:stretch>
            <a:fillRect/>
          </a:stretch>
        </p:blipFill>
        <p:spPr>
          <a:xfrm>
            <a:off x="4301275" y="1485075"/>
            <a:ext cx="4747201" cy="3445549"/>
          </a:xfrm>
          <a:prstGeom prst="rect">
            <a:avLst/>
          </a:prstGeom>
          <a:noFill/>
          <a:ln>
            <a:noFill/>
          </a:ln>
        </p:spPr>
      </p:pic>
      <p:sp>
        <p:nvSpPr>
          <p:cNvPr id="186" name="Google Shape;186;p33"/>
          <p:cNvSpPr txBox="1"/>
          <p:nvPr/>
        </p:nvSpPr>
        <p:spPr>
          <a:xfrm>
            <a:off x="361950" y="3794825"/>
            <a:ext cx="24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2"/>
              </a:buClr>
              <a:buSzPts val="1100"/>
              <a:buFont typeface="Arial"/>
              <a:buNone/>
            </a:pPr>
            <a:r>
              <a:rPr lang="en-CA" sz="1200">
                <a:solidFill>
                  <a:srgbClr val="0E0E0E"/>
                </a:solidFill>
                <a:latin typeface="Source Sans Pro"/>
                <a:ea typeface="Source Sans Pro"/>
                <a:cs typeface="Source Sans Pro"/>
                <a:sym typeface="Source Sans Pro"/>
              </a:rPr>
              <a:t>Test Case: </a:t>
            </a:r>
            <a:r>
              <a:rPr lang="en-CA" sz="1200">
                <a:solidFill>
                  <a:srgbClr val="0E0E0E"/>
                </a:solidFill>
                <a:latin typeface="Source Sans Pro"/>
                <a:ea typeface="Source Sans Pro"/>
                <a:cs typeface="Source Sans Pro"/>
                <a:sym typeface="Source Sans Pro"/>
              </a:rPr>
              <a:t>google.com</a:t>
            </a:r>
            <a:endParaRPr sz="1200">
              <a:solidFill>
                <a:srgbClr val="0E0E0E"/>
              </a:solidFill>
              <a:latin typeface="Source Sans Pro"/>
              <a:ea typeface="Source Sans Pro"/>
              <a:cs typeface="Source Sans Pro"/>
              <a:sym typeface="Source Sans Pro"/>
            </a:endParaRPr>
          </a:p>
        </p:txBody>
      </p:sp>
      <p:sp>
        <p:nvSpPr>
          <p:cNvPr id="187" name="Google Shape;187;p33"/>
          <p:cNvSpPr txBox="1"/>
          <p:nvPr/>
        </p:nvSpPr>
        <p:spPr>
          <a:xfrm>
            <a:off x="361950" y="4164125"/>
            <a:ext cx="24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200">
                <a:solidFill>
                  <a:srgbClr val="0E0E0E"/>
                </a:solidFill>
                <a:latin typeface="Source Sans Pro"/>
                <a:ea typeface="Source Sans Pro"/>
                <a:cs typeface="Source Sans Pro"/>
                <a:sym typeface="Source Sans Pro"/>
              </a:rPr>
              <a:t>Tool: </a:t>
            </a:r>
            <a:r>
              <a:rPr lang="en-CA" sz="1200">
                <a:solidFill>
                  <a:srgbClr val="0E0E0E"/>
                </a:solidFill>
                <a:latin typeface="Source Sans Pro"/>
                <a:ea typeface="Source Sans Pro"/>
                <a:cs typeface="Source Sans Pro"/>
                <a:sym typeface="Source Sans Pro"/>
              </a:rPr>
              <a:t>Webpagetest</a:t>
            </a:r>
            <a:endParaRPr sz="1200">
              <a:solidFill>
                <a:srgbClr val="0E0E0E"/>
              </a:solidFill>
              <a:latin typeface="Source Sans Pro"/>
              <a:ea typeface="Source Sans Pro"/>
              <a:cs typeface="Source Sans Pro"/>
              <a:sym typeface="Source Sans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1611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Evaluation for simulation</a:t>
            </a:r>
            <a:endParaRPr/>
          </a:p>
        </p:txBody>
      </p:sp>
      <p:sp>
        <p:nvSpPr>
          <p:cNvPr id="193" name="Google Shape;193;p34"/>
          <p:cNvSpPr txBox="1"/>
          <p:nvPr/>
        </p:nvSpPr>
        <p:spPr>
          <a:xfrm>
            <a:off x="387725" y="670300"/>
            <a:ext cx="24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2"/>
              </a:buClr>
              <a:buSzPts val="1100"/>
              <a:buFont typeface="Arial"/>
              <a:buNone/>
            </a:pPr>
            <a:r>
              <a:rPr lang="en-CA" sz="1200">
                <a:solidFill>
                  <a:srgbClr val="0E0E0E"/>
                </a:solidFill>
                <a:latin typeface="Source Sans Pro"/>
                <a:ea typeface="Source Sans Pro"/>
                <a:cs typeface="Source Sans Pro"/>
                <a:sym typeface="Source Sans Pro"/>
              </a:rPr>
              <a:t>Test Case: </a:t>
            </a:r>
            <a:r>
              <a:rPr lang="en-CA" sz="1200" u="sng">
                <a:solidFill>
                  <a:schemeClr val="hlink"/>
                </a:solidFill>
                <a:latin typeface="Source Sans Pro"/>
                <a:ea typeface="Source Sans Pro"/>
                <a:cs typeface="Source Sans Pro"/>
                <a:sym typeface="Source Sans Pro"/>
                <a:hlinkClick r:id="rId3"/>
              </a:rPr>
              <a:t>livescore</a:t>
            </a:r>
            <a:endParaRPr sz="1200">
              <a:solidFill>
                <a:srgbClr val="0E0E0E"/>
              </a:solidFill>
              <a:latin typeface="Source Sans Pro"/>
              <a:ea typeface="Source Sans Pro"/>
              <a:cs typeface="Source Sans Pro"/>
              <a:sym typeface="Source Sans Pro"/>
            </a:endParaRPr>
          </a:p>
        </p:txBody>
      </p:sp>
      <p:pic>
        <p:nvPicPr>
          <p:cNvPr id="194" name="Google Shape;194;p34"/>
          <p:cNvPicPr preferRelativeResize="0"/>
          <p:nvPr/>
        </p:nvPicPr>
        <p:blipFill>
          <a:blip r:embed="rId4">
            <a:alphaModFix/>
          </a:blip>
          <a:stretch>
            <a:fillRect/>
          </a:stretch>
        </p:blipFill>
        <p:spPr>
          <a:xfrm>
            <a:off x="471800" y="1039600"/>
            <a:ext cx="7064950" cy="33565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6"/>
        </a:solidFill>
      </p:bgPr>
    </p:bg>
    <p:spTree>
      <p:nvGrpSpPr>
        <p:cNvPr id="198" name="Shape 198"/>
        <p:cNvGrpSpPr/>
        <p:nvPr/>
      </p:nvGrpSpPr>
      <p:grpSpPr>
        <a:xfrm>
          <a:off x="0" y="0"/>
          <a:ext cx="0" cy="0"/>
          <a:chOff x="0" y="0"/>
          <a:chExt cx="0" cy="0"/>
        </a:xfrm>
      </p:grpSpPr>
      <p:sp>
        <p:nvSpPr>
          <p:cNvPr id="199" name="Google Shape;199;p35"/>
          <p:cNvSpPr txBox="1"/>
          <p:nvPr/>
        </p:nvSpPr>
        <p:spPr>
          <a:xfrm>
            <a:off x="288050" y="735875"/>
            <a:ext cx="3945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200">
                <a:solidFill>
                  <a:srgbClr val="1C1E21"/>
                </a:solidFill>
                <a:latin typeface="Roboto"/>
                <a:ea typeface="Roboto"/>
                <a:cs typeface="Roboto"/>
                <a:sym typeface="Roboto"/>
              </a:rPr>
              <a:t> we adopted the Green Software Measurement Model (GSMM) as outlined by Guldner et al. (2024). This model provides a structured methodology for measuring software-induced energy consumption through a variety of metrics, including power draw, CPU usage, and memory consumption. By applying GSMM, we were able to conduct a evaluation of our software, ensuring that our approach aligns with sustainable software engineering practices</a:t>
            </a:r>
            <a:endParaRPr sz="1800">
              <a:solidFill>
                <a:schemeClr val="lt2"/>
              </a:solidFill>
              <a:latin typeface="Source Sans Pro"/>
              <a:ea typeface="Source Sans Pro"/>
              <a:cs typeface="Source Sans Pro"/>
              <a:sym typeface="Source Sans Pro"/>
            </a:endParaRPr>
          </a:p>
        </p:txBody>
      </p:sp>
      <p:pic>
        <p:nvPicPr>
          <p:cNvPr id="200" name="Google Shape;200;p35"/>
          <p:cNvPicPr preferRelativeResize="0"/>
          <p:nvPr/>
        </p:nvPicPr>
        <p:blipFill>
          <a:blip r:embed="rId3">
            <a:alphaModFix/>
          </a:blip>
          <a:stretch>
            <a:fillRect/>
          </a:stretch>
        </p:blipFill>
        <p:spPr>
          <a:xfrm>
            <a:off x="4772750" y="667700"/>
            <a:ext cx="3868425" cy="4013302"/>
          </a:xfrm>
          <a:prstGeom prst="rect">
            <a:avLst/>
          </a:prstGeom>
          <a:noFill/>
          <a:ln>
            <a:noFill/>
          </a:ln>
        </p:spPr>
      </p:pic>
      <p:sp>
        <p:nvSpPr>
          <p:cNvPr id="201" name="Google Shape;201;p35"/>
          <p:cNvSpPr txBox="1"/>
          <p:nvPr/>
        </p:nvSpPr>
        <p:spPr>
          <a:xfrm>
            <a:off x="4724725" y="172225"/>
            <a:ext cx="24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200">
                <a:solidFill>
                  <a:srgbClr val="0E0E0E"/>
                </a:solidFill>
                <a:latin typeface="Source Sans Pro"/>
                <a:ea typeface="Source Sans Pro"/>
                <a:cs typeface="Source Sans Pro"/>
                <a:sym typeface="Source Sans Pro"/>
              </a:rPr>
              <a:t>Measurement Tool: </a:t>
            </a:r>
            <a:r>
              <a:rPr lang="en-CA" sz="1200" u="sng">
                <a:solidFill>
                  <a:schemeClr val="hlink"/>
                </a:solidFill>
                <a:latin typeface="Source Sans Pro"/>
                <a:ea typeface="Source Sans Pro"/>
                <a:cs typeface="Source Sans Pro"/>
                <a:sym typeface="Source Sans Pro"/>
                <a:hlinkClick r:id="rId4"/>
              </a:rPr>
              <a:t>GreenFrame</a:t>
            </a:r>
            <a:endParaRPr sz="1200">
              <a:solidFill>
                <a:srgbClr val="0E0E0E"/>
              </a:solidFill>
              <a:latin typeface="Source Sans Pro"/>
              <a:ea typeface="Source Sans Pro"/>
              <a:cs typeface="Source Sans Pro"/>
              <a:sym typeface="Source Sans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6"/>
          <p:cNvPicPr preferRelativeResize="0"/>
          <p:nvPr/>
        </p:nvPicPr>
        <p:blipFill>
          <a:blip r:embed="rId3">
            <a:alphaModFix/>
          </a:blip>
          <a:stretch>
            <a:fillRect/>
          </a:stretch>
        </p:blipFill>
        <p:spPr>
          <a:xfrm>
            <a:off x="271219" y="785675"/>
            <a:ext cx="5805978" cy="1247379"/>
          </a:xfrm>
          <a:prstGeom prst="rect">
            <a:avLst/>
          </a:prstGeom>
          <a:noFill/>
          <a:ln>
            <a:noFill/>
          </a:ln>
        </p:spPr>
      </p:pic>
      <p:pic>
        <p:nvPicPr>
          <p:cNvPr id="207" name="Google Shape;207;p36"/>
          <p:cNvPicPr preferRelativeResize="0"/>
          <p:nvPr/>
        </p:nvPicPr>
        <p:blipFill>
          <a:blip r:embed="rId4">
            <a:alphaModFix/>
          </a:blip>
          <a:stretch>
            <a:fillRect/>
          </a:stretch>
        </p:blipFill>
        <p:spPr>
          <a:xfrm>
            <a:off x="271219" y="2160904"/>
            <a:ext cx="5805978" cy="941204"/>
          </a:xfrm>
          <a:prstGeom prst="rect">
            <a:avLst/>
          </a:prstGeom>
          <a:noFill/>
          <a:ln>
            <a:noFill/>
          </a:ln>
        </p:spPr>
      </p:pic>
      <p:pic>
        <p:nvPicPr>
          <p:cNvPr id="208" name="Google Shape;208;p36"/>
          <p:cNvPicPr preferRelativeResize="0"/>
          <p:nvPr/>
        </p:nvPicPr>
        <p:blipFill>
          <a:blip r:embed="rId5">
            <a:alphaModFix/>
          </a:blip>
          <a:stretch>
            <a:fillRect/>
          </a:stretch>
        </p:blipFill>
        <p:spPr>
          <a:xfrm>
            <a:off x="64172" y="3305190"/>
            <a:ext cx="2546501" cy="1052634"/>
          </a:xfrm>
          <a:prstGeom prst="rect">
            <a:avLst/>
          </a:prstGeom>
          <a:noFill/>
          <a:ln>
            <a:noFill/>
          </a:ln>
        </p:spPr>
      </p:pic>
      <p:pic>
        <p:nvPicPr>
          <p:cNvPr id="209" name="Google Shape;209;p36"/>
          <p:cNvPicPr preferRelativeResize="0"/>
          <p:nvPr/>
        </p:nvPicPr>
        <p:blipFill>
          <a:blip r:embed="rId6">
            <a:alphaModFix/>
          </a:blip>
          <a:stretch>
            <a:fillRect/>
          </a:stretch>
        </p:blipFill>
        <p:spPr>
          <a:xfrm>
            <a:off x="2766778" y="3521311"/>
            <a:ext cx="3125182" cy="483095"/>
          </a:xfrm>
          <a:prstGeom prst="rect">
            <a:avLst/>
          </a:prstGeom>
          <a:noFill/>
          <a:ln>
            <a:noFill/>
          </a:ln>
        </p:spPr>
      </p:pic>
      <p:sp>
        <p:nvSpPr>
          <p:cNvPr id="210" name="Google Shape;210;p36"/>
          <p:cNvSpPr txBox="1"/>
          <p:nvPr/>
        </p:nvSpPr>
        <p:spPr>
          <a:xfrm>
            <a:off x="2942875" y="2301350"/>
            <a:ext cx="228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800">
                <a:solidFill>
                  <a:srgbClr val="00FFFF"/>
                </a:solidFill>
                <a:latin typeface="Source Sans Pro"/>
                <a:ea typeface="Source Sans Pro"/>
                <a:cs typeface="Source Sans Pro"/>
                <a:sym typeface="Source Sans Pro"/>
              </a:rPr>
              <a:t>2</a:t>
            </a:r>
            <a:endParaRPr sz="1800">
              <a:solidFill>
                <a:srgbClr val="00FFFF"/>
              </a:solidFill>
              <a:latin typeface="Source Sans Pro"/>
              <a:ea typeface="Source Sans Pro"/>
              <a:cs typeface="Source Sans Pro"/>
              <a:sym typeface="Source Sans Pro"/>
            </a:endParaRPr>
          </a:p>
        </p:txBody>
      </p:sp>
      <p:sp>
        <p:nvSpPr>
          <p:cNvPr id="211" name="Google Shape;211;p36"/>
          <p:cNvSpPr txBox="1"/>
          <p:nvPr/>
        </p:nvSpPr>
        <p:spPr>
          <a:xfrm>
            <a:off x="5316275" y="848475"/>
            <a:ext cx="228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800">
                <a:solidFill>
                  <a:srgbClr val="00FFFF"/>
                </a:solidFill>
                <a:latin typeface="Source Sans Pro"/>
                <a:ea typeface="Source Sans Pro"/>
                <a:cs typeface="Source Sans Pro"/>
                <a:sym typeface="Source Sans Pro"/>
              </a:rPr>
              <a:t>1</a:t>
            </a:r>
            <a:endParaRPr sz="1800">
              <a:solidFill>
                <a:srgbClr val="00FFFF"/>
              </a:solidFill>
              <a:latin typeface="Source Sans Pro"/>
              <a:ea typeface="Source Sans Pro"/>
              <a:cs typeface="Source Sans Pro"/>
              <a:sym typeface="Source Sans Pro"/>
            </a:endParaRPr>
          </a:p>
        </p:txBody>
      </p:sp>
      <p:sp>
        <p:nvSpPr>
          <p:cNvPr id="212" name="Google Shape;212;p36"/>
          <p:cNvSpPr txBox="1"/>
          <p:nvPr/>
        </p:nvSpPr>
        <p:spPr>
          <a:xfrm>
            <a:off x="1075150" y="3532000"/>
            <a:ext cx="228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800">
                <a:solidFill>
                  <a:srgbClr val="00FFFF"/>
                </a:solidFill>
                <a:latin typeface="Source Sans Pro"/>
                <a:ea typeface="Source Sans Pro"/>
                <a:cs typeface="Source Sans Pro"/>
                <a:sym typeface="Source Sans Pro"/>
              </a:rPr>
              <a:t>3</a:t>
            </a:r>
            <a:endParaRPr sz="1800">
              <a:solidFill>
                <a:srgbClr val="00FFFF"/>
              </a:solidFill>
              <a:latin typeface="Source Sans Pro"/>
              <a:ea typeface="Source Sans Pro"/>
              <a:cs typeface="Source Sans Pro"/>
              <a:sym typeface="Source Sans Pro"/>
            </a:endParaRPr>
          </a:p>
        </p:txBody>
      </p:sp>
      <p:sp>
        <p:nvSpPr>
          <p:cNvPr id="213" name="Google Shape;213;p36"/>
          <p:cNvSpPr txBox="1"/>
          <p:nvPr/>
        </p:nvSpPr>
        <p:spPr>
          <a:xfrm>
            <a:off x="6258425" y="894675"/>
            <a:ext cx="24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2"/>
              </a:buClr>
              <a:buSzPts val="1100"/>
              <a:buFont typeface="Arial"/>
              <a:buNone/>
            </a:pPr>
            <a:r>
              <a:rPr lang="en-CA" sz="1200">
                <a:solidFill>
                  <a:srgbClr val="0E0E0E"/>
                </a:solidFill>
                <a:latin typeface="Source Sans Pro"/>
                <a:ea typeface="Source Sans Pro"/>
                <a:cs typeface="Source Sans Pro"/>
                <a:sym typeface="Source Sans Pro"/>
              </a:rPr>
              <a:t>Scenario tool: playwright</a:t>
            </a:r>
            <a:endParaRPr sz="1200">
              <a:solidFill>
                <a:srgbClr val="0E0E0E"/>
              </a:solidFill>
              <a:latin typeface="Source Sans Pro"/>
              <a:ea typeface="Source Sans Pro"/>
              <a:cs typeface="Source Sans Pro"/>
              <a:sym typeface="Source Sans Pro"/>
            </a:endParaRPr>
          </a:p>
        </p:txBody>
      </p:sp>
      <p:sp>
        <p:nvSpPr>
          <p:cNvPr id="214" name="Google Shape;214;p36"/>
          <p:cNvSpPr txBox="1"/>
          <p:nvPr/>
        </p:nvSpPr>
        <p:spPr>
          <a:xfrm>
            <a:off x="6176825" y="1306275"/>
            <a:ext cx="2638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200">
                <a:solidFill>
                  <a:srgbClr val="1C1E21"/>
                </a:solidFill>
                <a:latin typeface="Roboto"/>
                <a:ea typeface="Roboto"/>
                <a:cs typeface="Roboto"/>
                <a:sym typeface="Roboto"/>
              </a:rPr>
              <a:t>Playwright comes with the ability to generate tests for you, as you perform actions in the browser and is a great way to quickly get started with testing. Playwright will look at your page and figure out the best locator, prioritizing </a:t>
            </a:r>
            <a:r>
              <a:rPr lang="en-CA" sz="1200" u="sng">
                <a:solidFill>
                  <a:schemeClr val="hlink"/>
                </a:solidFill>
                <a:latin typeface="Roboto"/>
                <a:ea typeface="Roboto"/>
                <a:cs typeface="Roboto"/>
                <a:sym typeface="Roboto"/>
                <a:hlinkClick r:id="rId7"/>
              </a:rPr>
              <a:t>role, text and test id locators</a:t>
            </a:r>
            <a:r>
              <a:rPr lang="en-CA" sz="1200">
                <a:solidFill>
                  <a:srgbClr val="1C1E21"/>
                </a:solidFill>
                <a:latin typeface="Roboto"/>
                <a:ea typeface="Roboto"/>
                <a:cs typeface="Roboto"/>
                <a:sym typeface="Roboto"/>
              </a:rPr>
              <a:t>.</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378125" y="0"/>
            <a:ext cx="8520600" cy="6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CA" sz="2000"/>
              <a:t>Timeline</a:t>
            </a:r>
            <a:endParaRPr sz="2000"/>
          </a:p>
        </p:txBody>
      </p:sp>
      <p:graphicFrame>
        <p:nvGraphicFramePr>
          <p:cNvPr id="220" name="Google Shape;220;p37"/>
          <p:cNvGraphicFramePr/>
          <p:nvPr/>
        </p:nvGraphicFramePr>
        <p:xfrm>
          <a:off x="802688" y="483900"/>
          <a:ext cx="3000000" cy="3000000"/>
        </p:xfrm>
        <a:graphic>
          <a:graphicData uri="http://schemas.openxmlformats.org/drawingml/2006/table">
            <a:tbl>
              <a:tblPr>
                <a:noFill/>
                <a:tableStyleId>{A7414635-B335-44D1-8051-12FC2F506FD1}</a:tableStyleId>
              </a:tblPr>
              <a:tblGrid>
                <a:gridCol w="2512875"/>
                <a:gridCol w="2512875"/>
                <a:gridCol w="2512875"/>
              </a:tblGrid>
              <a:tr h="284750">
                <a:tc>
                  <a:txBody>
                    <a:bodyPr/>
                    <a:lstStyle/>
                    <a:p>
                      <a:pPr indent="0" lvl="0" marL="0" rtl="0" algn="l">
                        <a:spcBef>
                          <a:spcPts val="0"/>
                        </a:spcBef>
                        <a:spcAft>
                          <a:spcPts val="0"/>
                        </a:spcAft>
                        <a:buNone/>
                      </a:pPr>
                      <a:r>
                        <a:rPr lang="en-CA" sz="800"/>
                        <a:t>Evaluation Activities</a:t>
                      </a:r>
                      <a:endParaRPr sz="800"/>
                    </a:p>
                  </a:txBody>
                  <a:tcPr marT="91425" marB="91425" marR="91425" marL="91425"/>
                </a:tc>
                <a:tc>
                  <a:txBody>
                    <a:bodyPr/>
                    <a:lstStyle/>
                    <a:p>
                      <a:pPr indent="0" lvl="0" marL="0" rtl="0" algn="l">
                        <a:spcBef>
                          <a:spcPts val="0"/>
                        </a:spcBef>
                        <a:spcAft>
                          <a:spcPts val="0"/>
                        </a:spcAft>
                        <a:buNone/>
                      </a:pPr>
                      <a:r>
                        <a:rPr lang="en-CA" sz="800"/>
                        <a:t>Timeframe</a:t>
                      </a:r>
                      <a:endParaRPr sz="800"/>
                    </a:p>
                  </a:txBody>
                  <a:tcPr marT="91425" marB="91425" marR="91425" marL="91425"/>
                </a:tc>
                <a:tc>
                  <a:txBody>
                    <a:bodyPr/>
                    <a:lstStyle/>
                    <a:p>
                      <a:pPr indent="0" lvl="0" marL="0" rtl="0" algn="l">
                        <a:spcBef>
                          <a:spcPts val="0"/>
                        </a:spcBef>
                        <a:spcAft>
                          <a:spcPts val="0"/>
                        </a:spcAft>
                        <a:buNone/>
                      </a:pPr>
                      <a:r>
                        <a:rPr lang="en-CA" sz="800"/>
                        <a:t>Details</a:t>
                      </a:r>
                      <a:endParaRPr sz="800"/>
                    </a:p>
                  </a:txBody>
                  <a:tcPr marT="91425" marB="91425" marR="91425" marL="91425"/>
                </a:tc>
              </a:tr>
              <a:tr h="398675">
                <a:tc>
                  <a:txBody>
                    <a:bodyPr/>
                    <a:lstStyle/>
                    <a:p>
                      <a:pPr indent="0" lvl="0" marL="0" rtl="0" algn="l">
                        <a:spcBef>
                          <a:spcPts val="0"/>
                        </a:spcBef>
                        <a:spcAft>
                          <a:spcPts val="0"/>
                        </a:spcAft>
                        <a:buNone/>
                      </a:pPr>
                      <a:r>
                        <a:rPr lang="en-CA" sz="800">
                          <a:solidFill>
                            <a:schemeClr val="dk2"/>
                          </a:solidFill>
                          <a:highlight>
                            <a:srgbClr val="00FFFF"/>
                          </a:highlight>
                        </a:rPr>
                        <a:t>1 . Evaluation Environment Setup</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week 1</a:t>
                      </a:r>
                      <a:endParaRPr sz="800">
                        <a:highlight>
                          <a:srgbClr val="00FFFF"/>
                        </a:highlight>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CA" sz="800">
                          <a:solidFill>
                            <a:schemeClr val="dk2"/>
                          </a:solidFill>
                          <a:highlight>
                            <a:srgbClr val="00FFFF"/>
                          </a:highlight>
                        </a:rPr>
                        <a:t>Perform idle and baseline measurements of system.</a:t>
                      </a:r>
                      <a:endParaRPr sz="800">
                        <a:solidFill>
                          <a:schemeClr val="dk2"/>
                        </a:solidFill>
                        <a:highlight>
                          <a:srgbClr val="00FFFF"/>
                        </a:highlight>
                      </a:endParaRPr>
                    </a:p>
                  </a:txBody>
                  <a:tcPr marT="91425" marB="91425" marR="91425" marL="91425"/>
                </a:tc>
              </a:tr>
              <a:tr h="436725">
                <a:tc>
                  <a:txBody>
                    <a:bodyPr/>
                    <a:lstStyle/>
                    <a:p>
                      <a:pPr indent="0" lvl="0" marL="0" rtl="0" algn="l">
                        <a:spcBef>
                          <a:spcPts val="0"/>
                        </a:spcBef>
                        <a:spcAft>
                          <a:spcPts val="0"/>
                        </a:spcAft>
                        <a:buNone/>
                      </a:pPr>
                      <a:r>
                        <a:rPr lang="en-CA" sz="800">
                          <a:highlight>
                            <a:srgbClr val="00FFFF"/>
                          </a:highlight>
                        </a:rPr>
                        <a:t>2. </a:t>
                      </a:r>
                      <a:r>
                        <a:rPr lang="en-CA" sz="800">
                          <a:solidFill>
                            <a:schemeClr val="dk2"/>
                          </a:solidFill>
                          <a:highlight>
                            <a:srgbClr val="00FFFF"/>
                          </a:highlight>
                        </a:rPr>
                        <a:t>Define Measurement Goals</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Week 2</a:t>
                      </a:r>
                      <a:endParaRPr sz="800">
                        <a:highlight>
                          <a:srgbClr val="00FFFF"/>
                        </a:highlight>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CA" sz="800">
                          <a:solidFill>
                            <a:schemeClr val="dk2"/>
                          </a:solidFill>
                          <a:highlight>
                            <a:srgbClr val="00FFFF"/>
                          </a:highlight>
                        </a:rPr>
                        <a:t>Set specific evaluation goals and select the metrics and scenarios to measure.</a:t>
                      </a:r>
                      <a:endParaRPr sz="800">
                        <a:highlight>
                          <a:srgbClr val="00FFFF"/>
                        </a:highlight>
                      </a:endParaRPr>
                    </a:p>
                  </a:txBody>
                  <a:tcPr marT="91425" marB="91425" marR="91425" marL="91425"/>
                </a:tc>
              </a:tr>
              <a:tr h="398675">
                <a:tc>
                  <a:txBody>
                    <a:bodyPr/>
                    <a:lstStyle/>
                    <a:p>
                      <a:pPr indent="0" lvl="0" marL="0" rtl="0" algn="l">
                        <a:spcBef>
                          <a:spcPts val="0"/>
                        </a:spcBef>
                        <a:spcAft>
                          <a:spcPts val="0"/>
                        </a:spcAft>
                        <a:buNone/>
                      </a:pPr>
                      <a:r>
                        <a:rPr lang="en-CA" sz="800">
                          <a:highlight>
                            <a:srgbClr val="00FFFF"/>
                          </a:highlight>
                        </a:rPr>
                        <a:t>3. </a:t>
                      </a:r>
                      <a:r>
                        <a:rPr lang="en-CA" sz="800">
                          <a:highlight>
                            <a:srgbClr val="00FFFF"/>
                          </a:highlight>
                        </a:rPr>
                        <a:t>Conduct Idle and Usage Tests</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Week 2</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Run tasks in controlled environments, measuring energy consumption.</a:t>
                      </a:r>
                      <a:endParaRPr sz="800">
                        <a:highlight>
                          <a:srgbClr val="00FFFF"/>
                        </a:highlight>
                      </a:endParaRPr>
                    </a:p>
                  </a:txBody>
                  <a:tcPr marT="91425" marB="91425" marR="91425" marL="91425"/>
                </a:tc>
              </a:tr>
              <a:tr h="436725">
                <a:tc>
                  <a:txBody>
                    <a:bodyPr/>
                    <a:lstStyle/>
                    <a:p>
                      <a:pPr indent="0" lvl="0" marL="0" rtl="0" algn="l">
                        <a:spcBef>
                          <a:spcPts val="0"/>
                        </a:spcBef>
                        <a:spcAft>
                          <a:spcPts val="0"/>
                        </a:spcAft>
                        <a:buNone/>
                      </a:pPr>
                      <a:r>
                        <a:rPr lang="en-CA" sz="800">
                          <a:highlight>
                            <a:srgbClr val="00FFFF"/>
                          </a:highlight>
                        </a:rPr>
                        <a:t>4. </a:t>
                      </a:r>
                      <a:r>
                        <a:rPr lang="en-CA" sz="800">
                          <a:solidFill>
                            <a:schemeClr val="dk2"/>
                          </a:solidFill>
                          <a:highlight>
                            <a:srgbClr val="00FFFF"/>
                          </a:highlight>
                        </a:rPr>
                        <a:t>Run Load Tests</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Week 2</a:t>
                      </a:r>
                      <a:endParaRPr sz="800">
                        <a:highlight>
                          <a:srgbClr val="00FFFF"/>
                        </a:highlight>
                      </a:endParaRPr>
                    </a:p>
                  </a:txBody>
                  <a:tcPr marT="91425" marB="91425" marR="91425" marL="91425"/>
                </a:tc>
                <a:tc>
                  <a:txBody>
                    <a:bodyPr/>
                    <a:lstStyle/>
                    <a:p>
                      <a:pPr indent="0" lvl="0" marL="0" rtl="0" algn="l">
                        <a:spcBef>
                          <a:spcPts val="0"/>
                        </a:spcBef>
                        <a:spcAft>
                          <a:spcPts val="0"/>
                        </a:spcAft>
                        <a:buNone/>
                      </a:pPr>
                      <a:r>
                        <a:rPr lang="en-CA" sz="800">
                          <a:highlight>
                            <a:srgbClr val="00FFFF"/>
                          </a:highlight>
                        </a:rPr>
                        <a:t>Simulate stress scenarios to capture high-resource usage performance.</a:t>
                      </a:r>
                      <a:endParaRPr sz="800">
                        <a:highlight>
                          <a:srgbClr val="00FFFF"/>
                        </a:highlight>
                      </a:endParaRPr>
                    </a:p>
                  </a:txBody>
                  <a:tcPr marT="91425" marB="91425" marR="91425" marL="91425"/>
                </a:tc>
              </a:tr>
              <a:tr h="512600">
                <a:tc>
                  <a:txBody>
                    <a:bodyPr/>
                    <a:lstStyle/>
                    <a:p>
                      <a:pPr indent="0" lvl="0" marL="0" rtl="0" algn="l">
                        <a:spcBef>
                          <a:spcPts val="0"/>
                        </a:spcBef>
                        <a:spcAft>
                          <a:spcPts val="0"/>
                        </a:spcAft>
                        <a:buNone/>
                      </a:pPr>
                      <a:r>
                        <a:rPr lang="en-CA" sz="800"/>
                        <a:t>5. </a:t>
                      </a:r>
                      <a:r>
                        <a:rPr lang="en-CA" sz="800">
                          <a:solidFill>
                            <a:schemeClr val="dk2"/>
                          </a:solidFill>
                        </a:rPr>
                        <a:t>Data Collection</a:t>
                      </a:r>
                      <a:endParaRPr sz="800"/>
                    </a:p>
                  </a:txBody>
                  <a:tcPr marT="91425" marB="91425" marR="91425" marL="91425"/>
                </a:tc>
                <a:tc>
                  <a:txBody>
                    <a:bodyPr/>
                    <a:lstStyle/>
                    <a:p>
                      <a:pPr indent="0" lvl="0" marL="0" rtl="0" algn="l">
                        <a:spcBef>
                          <a:spcPts val="0"/>
                        </a:spcBef>
                        <a:spcAft>
                          <a:spcPts val="0"/>
                        </a:spcAft>
                        <a:buNone/>
                      </a:pPr>
                      <a:r>
                        <a:rPr lang="en-CA" sz="800"/>
                        <a:t>Week 3</a:t>
                      </a:r>
                      <a:endParaRPr sz="800"/>
                    </a:p>
                  </a:txBody>
                  <a:tcPr marT="91425" marB="91425" marR="91425" marL="91425"/>
                </a:tc>
                <a:tc>
                  <a:txBody>
                    <a:bodyPr/>
                    <a:lstStyle/>
                    <a:p>
                      <a:pPr indent="0" lvl="0" marL="0" rtl="0" algn="l">
                        <a:spcBef>
                          <a:spcPts val="0"/>
                        </a:spcBef>
                        <a:spcAft>
                          <a:spcPts val="0"/>
                        </a:spcAft>
                        <a:buNone/>
                      </a:pPr>
                      <a:r>
                        <a:rPr lang="en-CA" sz="800">
                          <a:solidFill>
                            <a:schemeClr val="dk2"/>
                          </a:solidFill>
                        </a:rPr>
                        <a:t>Gather all raw data for energy, CPU, and memory consumption during tests.</a:t>
                      </a:r>
                      <a:endParaRPr sz="800">
                        <a:solidFill>
                          <a:schemeClr val="dk2"/>
                        </a:solidFill>
                      </a:endParaRPr>
                    </a:p>
                    <a:p>
                      <a:pPr indent="0" lvl="0" marL="0" rtl="0" algn="l">
                        <a:spcBef>
                          <a:spcPts val="0"/>
                        </a:spcBef>
                        <a:spcAft>
                          <a:spcPts val="0"/>
                        </a:spcAft>
                        <a:buNone/>
                      </a:pPr>
                      <a:r>
                        <a:t/>
                      </a:r>
                      <a:endParaRPr sz="800"/>
                    </a:p>
                  </a:txBody>
                  <a:tcPr marT="91425" marB="91425" marR="91425" marL="91425"/>
                </a:tc>
              </a:tr>
              <a:tr h="436725">
                <a:tc>
                  <a:txBody>
                    <a:bodyPr/>
                    <a:lstStyle/>
                    <a:p>
                      <a:pPr indent="0" lvl="0" marL="0" rtl="0" algn="l">
                        <a:spcBef>
                          <a:spcPts val="0"/>
                        </a:spcBef>
                        <a:spcAft>
                          <a:spcPts val="0"/>
                        </a:spcAft>
                        <a:buNone/>
                      </a:pPr>
                      <a:r>
                        <a:rPr lang="en-CA" sz="800"/>
                        <a:t>6. </a:t>
                      </a:r>
                      <a:r>
                        <a:rPr lang="en-CA" sz="800"/>
                        <a:t>Analysis and Initial Report</a:t>
                      </a:r>
                      <a:endParaRPr sz="800"/>
                    </a:p>
                  </a:txBody>
                  <a:tcPr marT="91425" marB="91425" marR="91425" marL="91425"/>
                </a:tc>
                <a:tc>
                  <a:txBody>
                    <a:bodyPr/>
                    <a:lstStyle/>
                    <a:p>
                      <a:pPr indent="0" lvl="0" marL="0" rtl="0" algn="l">
                        <a:spcBef>
                          <a:spcPts val="0"/>
                        </a:spcBef>
                        <a:spcAft>
                          <a:spcPts val="0"/>
                        </a:spcAft>
                        <a:buNone/>
                      </a:pPr>
                      <a:r>
                        <a:rPr lang="en-CA" sz="800"/>
                        <a:t>Week 3</a:t>
                      </a:r>
                      <a:endParaRPr sz="800"/>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CA" sz="800"/>
                        <a:t>Analyze the data to compute energy efficiency and performance metrics.</a:t>
                      </a:r>
                      <a:endParaRPr sz="800"/>
                    </a:p>
                  </a:txBody>
                  <a:tcPr marT="91425" marB="91425" marR="91425" marL="91425"/>
                </a:tc>
              </a:tr>
              <a:tr h="436725">
                <a:tc>
                  <a:txBody>
                    <a:bodyPr/>
                    <a:lstStyle/>
                    <a:p>
                      <a:pPr indent="0" lvl="0" marL="0" rtl="0" algn="l">
                        <a:spcBef>
                          <a:spcPts val="0"/>
                        </a:spcBef>
                        <a:spcAft>
                          <a:spcPts val="0"/>
                        </a:spcAft>
                        <a:buNone/>
                      </a:pPr>
                      <a:r>
                        <a:rPr lang="en-CA" sz="800"/>
                        <a:t>7. Comparative Analysis</a:t>
                      </a:r>
                      <a:endParaRPr sz="800"/>
                    </a:p>
                  </a:txBody>
                  <a:tcPr marT="91425" marB="91425" marR="91425" marL="91425"/>
                </a:tc>
                <a:tc>
                  <a:txBody>
                    <a:bodyPr/>
                    <a:lstStyle/>
                    <a:p>
                      <a:pPr indent="0" lvl="0" marL="0" rtl="0" algn="l">
                        <a:spcBef>
                          <a:spcPts val="0"/>
                        </a:spcBef>
                        <a:spcAft>
                          <a:spcPts val="0"/>
                        </a:spcAft>
                        <a:buNone/>
                      </a:pPr>
                      <a:r>
                        <a:rPr lang="en-CA" sz="800"/>
                        <a:t>Week 3</a:t>
                      </a:r>
                      <a:endParaRPr sz="800"/>
                    </a:p>
                  </a:txBody>
                  <a:tcPr marT="91425" marB="91425" marR="91425" marL="91425"/>
                </a:tc>
                <a:tc>
                  <a:txBody>
                    <a:bodyPr/>
                    <a:lstStyle/>
                    <a:p>
                      <a:pPr indent="0" lvl="0" marL="0" rtl="0" algn="l">
                        <a:spcBef>
                          <a:spcPts val="0"/>
                        </a:spcBef>
                        <a:spcAft>
                          <a:spcPts val="0"/>
                        </a:spcAft>
                        <a:buNone/>
                      </a:pPr>
                      <a:r>
                        <a:rPr lang="en-CA" sz="800"/>
                        <a:t>Compare different versions of your software or configurations.</a:t>
                      </a:r>
                      <a:endParaRPr sz="800"/>
                    </a:p>
                  </a:txBody>
                  <a:tcPr marT="91425" marB="91425" marR="91425" marL="91425"/>
                </a:tc>
              </a:tr>
              <a:tr h="436725">
                <a:tc>
                  <a:txBody>
                    <a:bodyPr/>
                    <a:lstStyle/>
                    <a:p>
                      <a:pPr indent="0" lvl="0" marL="0" rtl="0" algn="l">
                        <a:spcBef>
                          <a:spcPts val="0"/>
                        </a:spcBef>
                        <a:spcAft>
                          <a:spcPts val="0"/>
                        </a:spcAft>
                        <a:buNone/>
                      </a:pPr>
                      <a:r>
                        <a:rPr lang="en-CA" sz="800"/>
                        <a:t>8. Draft Final Report</a:t>
                      </a:r>
                      <a:endParaRPr sz="800"/>
                    </a:p>
                  </a:txBody>
                  <a:tcPr marT="91425" marB="91425" marR="91425" marL="91425"/>
                </a:tc>
                <a:tc>
                  <a:txBody>
                    <a:bodyPr/>
                    <a:lstStyle/>
                    <a:p>
                      <a:pPr indent="0" lvl="0" marL="0" rtl="0" algn="l">
                        <a:spcBef>
                          <a:spcPts val="0"/>
                        </a:spcBef>
                        <a:spcAft>
                          <a:spcPts val="0"/>
                        </a:spcAft>
                        <a:buNone/>
                      </a:pPr>
                      <a:r>
                        <a:rPr lang="en-CA" sz="800"/>
                        <a:t>Week 3</a:t>
                      </a:r>
                      <a:endParaRPr sz="800"/>
                    </a:p>
                  </a:txBody>
                  <a:tcPr marT="91425" marB="91425" marR="91425" marL="91425"/>
                </a:tc>
                <a:tc>
                  <a:txBody>
                    <a:bodyPr/>
                    <a:lstStyle/>
                    <a:p>
                      <a:pPr indent="0" lvl="0" marL="0" rtl="0" algn="l">
                        <a:spcBef>
                          <a:spcPts val="0"/>
                        </a:spcBef>
                        <a:spcAft>
                          <a:spcPts val="0"/>
                        </a:spcAft>
                        <a:buNone/>
                      </a:pPr>
                      <a:r>
                        <a:rPr lang="en-CA" sz="800"/>
                        <a:t>Summarize the findings, highlighting energy consumption patterns and efficiency improvements.</a:t>
                      </a:r>
                      <a:endParaRPr sz="800"/>
                    </a:p>
                  </a:txBody>
                  <a:tcPr marT="91425" marB="91425" marR="91425" marL="91425"/>
                </a:tc>
              </a:tr>
              <a:tr h="436725">
                <a:tc>
                  <a:txBody>
                    <a:bodyPr/>
                    <a:lstStyle/>
                    <a:p>
                      <a:pPr indent="0" lvl="0" marL="0" rtl="0" algn="l">
                        <a:spcBef>
                          <a:spcPts val="0"/>
                        </a:spcBef>
                        <a:spcAft>
                          <a:spcPts val="0"/>
                        </a:spcAft>
                        <a:buNone/>
                      </a:pPr>
                      <a:r>
                        <a:rPr lang="en-CA" sz="800"/>
                        <a:t>9. Final Adjustments and Review</a:t>
                      </a:r>
                      <a:endParaRPr sz="800"/>
                    </a:p>
                  </a:txBody>
                  <a:tcPr marT="91425" marB="91425" marR="91425" marL="91425"/>
                </a:tc>
                <a:tc>
                  <a:txBody>
                    <a:bodyPr/>
                    <a:lstStyle/>
                    <a:p>
                      <a:pPr indent="0" lvl="0" marL="0" rtl="0" algn="l">
                        <a:spcBef>
                          <a:spcPts val="0"/>
                        </a:spcBef>
                        <a:spcAft>
                          <a:spcPts val="0"/>
                        </a:spcAft>
                        <a:buNone/>
                      </a:pPr>
                      <a:r>
                        <a:rPr lang="en-CA" sz="800"/>
                        <a:t>Week 4</a:t>
                      </a:r>
                      <a:endParaRPr sz="800"/>
                    </a:p>
                  </a:txBody>
                  <a:tcPr marT="91425" marB="91425" marR="91425" marL="91425"/>
                </a:tc>
                <a:tc>
                  <a:txBody>
                    <a:bodyPr/>
                    <a:lstStyle/>
                    <a:p>
                      <a:pPr indent="0" lvl="0" marL="0" rtl="0" algn="l">
                        <a:spcBef>
                          <a:spcPts val="0"/>
                        </a:spcBef>
                        <a:spcAft>
                          <a:spcPts val="0"/>
                        </a:spcAft>
                        <a:buNone/>
                      </a:pPr>
                      <a:r>
                        <a:rPr lang="en-CA" sz="800"/>
                        <a:t>Make final changes to the report and review the results for accuracy.</a:t>
                      </a:r>
                      <a:endParaRPr sz="800"/>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 name="Shape 224"/>
        <p:cNvGrpSpPr/>
        <p:nvPr/>
      </p:nvGrpSpPr>
      <p:grpSpPr>
        <a:xfrm>
          <a:off x="0" y="0"/>
          <a:ext cx="0" cy="0"/>
          <a:chOff x="0" y="0"/>
          <a:chExt cx="0" cy="0"/>
        </a:xfrm>
      </p:grpSpPr>
      <p:sp>
        <p:nvSpPr>
          <p:cNvPr id="225" name="Google Shape;225;p38"/>
          <p:cNvSpPr txBox="1"/>
          <p:nvPr>
            <p:ph type="title"/>
          </p:nvPr>
        </p:nvSpPr>
        <p:spPr>
          <a:xfrm>
            <a:off x="311700" y="4325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Future work</a:t>
            </a:r>
            <a:endParaRPr/>
          </a:p>
        </p:txBody>
      </p:sp>
      <p:sp>
        <p:nvSpPr>
          <p:cNvPr id="226" name="Google Shape;226;p38"/>
          <p:cNvSpPr txBox="1"/>
          <p:nvPr>
            <p:ph idx="1" type="body"/>
          </p:nvPr>
        </p:nvSpPr>
        <p:spPr>
          <a:xfrm>
            <a:off x="281500" y="730800"/>
            <a:ext cx="8520600" cy="3643200"/>
          </a:xfrm>
          <a:prstGeom prst="rect">
            <a:avLst/>
          </a:prstGeom>
        </p:spPr>
        <p:txBody>
          <a:bodyPr anchorCtr="0" anchor="t" bIns="91425" lIns="91425" spcFirstLastPara="1" rIns="91425" wrap="square" tIns="91425">
            <a:normAutofit/>
          </a:bodyPr>
          <a:lstStyle/>
          <a:p>
            <a:pPr indent="-301625" lvl="0" marL="457200" rtl="0" algn="l">
              <a:spcBef>
                <a:spcPts val="0"/>
              </a:spcBef>
              <a:spcAft>
                <a:spcPts val="0"/>
              </a:spcAft>
              <a:buClr>
                <a:srgbClr val="0E0E0E"/>
              </a:buClr>
              <a:buSzPts val="1150"/>
              <a:buFont typeface="Arial"/>
              <a:buChar char="●"/>
            </a:pPr>
            <a:r>
              <a:rPr b="1" lang="en-CA" sz="1200">
                <a:solidFill>
                  <a:srgbClr val="0E0E0E"/>
                </a:solidFill>
                <a:latin typeface="Arial"/>
                <a:ea typeface="Arial"/>
                <a:cs typeface="Arial"/>
                <a:sym typeface="Arial"/>
              </a:rPr>
              <a:t>Expansion of Energy-Efficient Software Design</a:t>
            </a:r>
            <a:endParaRPr b="1" sz="1150">
              <a:solidFill>
                <a:srgbClr val="0E0E0E"/>
              </a:solidFill>
              <a:latin typeface="Arial"/>
              <a:ea typeface="Arial"/>
              <a:cs typeface="Arial"/>
              <a:sym typeface="Arial"/>
            </a:endParaRPr>
          </a:p>
          <a:p>
            <a:pPr indent="-301625" lvl="1" marL="914400" rtl="0" algn="l">
              <a:spcBef>
                <a:spcPts val="0"/>
              </a:spcBef>
              <a:spcAft>
                <a:spcPts val="0"/>
              </a:spcAft>
              <a:buClr>
                <a:srgbClr val="0E0E0E"/>
              </a:buClr>
              <a:buSzPts val="1150"/>
              <a:buFont typeface="Arial"/>
              <a:buChar char="○"/>
            </a:pPr>
            <a:r>
              <a:rPr lang="en-CA" sz="1200">
                <a:solidFill>
                  <a:srgbClr val="0E0E0E"/>
                </a:solidFill>
                <a:latin typeface="Arial"/>
                <a:ea typeface="Arial"/>
                <a:cs typeface="Arial"/>
                <a:sym typeface="Arial"/>
              </a:rPr>
              <a:t>Focus on software architecture areas</a:t>
            </a:r>
            <a:endParaRPr sz="1150">
              <a:solidFill>
                <a:srgbClr val="0E0E0E"/>
              </a:solidFill>
              <a:latin typeface="Arial"/>
              <a:ea typeface="Arial"/>
              <a:cs typeface="Arial"/>
              <a:sym typeface="Arial"/>
            </a:endParaRPr>
          </a:p>
          <a:p>
            <a:pPr indent="-301625" lvl="1" marL="914400" rtl="0" algn="l">
              <a:spcBef>
                <a:spcPts val="0"/>
              </a:spcBef>
              <a:spcAft>
                <a:spcPts val="0"/>
              </a:spcAft>
              <a:buClr>
                <a:srgbClr val="0E0E0E"/>
              </a:buClr>
              <a:buSzPts val="1150"/>
              <a:buFont typeface="Arial"/>
              <a:buChar char="○"/>
            </a:pPr>
            <a:r>
              <a:rPr lang="en-CA" sz="1200">
                <a:solidFill>
                  <a:srgbClr val="0E0E0E"/>
                </a:solidFill>
                <a:latin typeface="Arial"/>
                <a:ea typeface="Arial"/>
                <a:cs typeface="Arial"/>
                <a:sym typeface="Arial"/>
              </a:rPr>
              <a:t>Optimize network communications for energy savings</a:t>
            </a:r>
            <a:endParaRPr sz="1150">
              <a:solidFill>
                <a:srgbClr val="0E0E0E"/>
              </a:solidFill>
              <a:latin typeface="Arial"/>
              <a:ea typeface="Arial"/>
              <a:cs typeface="Arial"/>
              <a:sym typeface="Arial"/>
            </a:endParaRPr>
          </a:p>
          <a:p>
            <a:pPr indent="-301625" lvl="0" marL="457200" rtl="0" algn="l">
              <a:lnSpc>
                <a:spcPct val="150000"/>
              </a:lnSpc>
              <a:spcBef>
                <a:spcPts val="0"/>
              </a:spcBef>
              <a:spcAft>
                <a:spcPts val="0"/>
              </a:spcAft>
              <a:buClr>
                <a:srgbClr val="0E0E0E"/>
              </a:buClr>
              <a:buSzPts val="1150"/>
              <a:buFont typeface="Arial"/>
              <a:buChar char="●"/>
            </a:pPr>
            <a:r>
              <a:rPr b="1" lang="en-CA" sz="1150">
                <a:solidFill>
                  <a:srgbClr val="0E0E0E"/>
                </a:solidFill>
                <a:latin typeface="Arial"/>
                <a:ea typeface="Arial"/>
                <a:cs typeface="Arial"/>
                <a:sym typeface="Arial"/>
              </a:rPr>
              <a:t>Advanced Energy Measurement</a:t>
            </a:r>
            <a:endParaRPr b="1" sz="1150">
              <a:solidFill>
                <a:srgbClr val="0E0E0E"/>
              </a:solidFill>
              <a:latin typeface="Arial"/>
              <a:ea typeface="Arial"/>
              <a:cs typeface="Arial"/>
              <a:sym typeface="Arial"/>
            </a:endParaRPr>
          </a:p>
          <a:p>
            <a:pPr indent="-301625" lvl="1" marL="914400" rtl="0" algn="l">
              <a:lnSpc>
                <a:spcPct val="150000"/>
              </a:lnSpc>
              <a:spcBef>
                <a:spcPts val="0"/>
              </a:spcBef>
              <a:spcAft>
                <a:spcPts val="0"/>
              </a:spcAft>
              <a:buClr>
                <a:srgbClr val="0E0E0E"/>
              </a:buClr>
              <a:buSzPts val="1150"/>
              <a:buFont typeface="Arial"/>
              <a:buChar char="○"/>
            </a:pPr>
            <a:r>
              <a:rPr lang="en-CA" sz="1150">
                <a:solidFill>
                  <a:srgbClr val="0E0E0E"/>
                </a:solidFill>
                <a:latin typeface="Arial"/>
                <a:ea typeface="Arial"/>
                <a:cs typeface="Arial"/>
                <a:sym typeface="Arial"/>
              </a:rPr>
              <a:t>Develop </a:t>
            </a:r>
            <a:r>
              <a:rPr b="1" lang="en-CA" sz="1150">
                <a:solidFill>
                  <a:srgbClr val="0E0E0E"/>
                </a:solidFill>
                <a:latin typeface="Arial"/>
                <a:ea typeface="Arial"/>
                <a:cs typeface="Arial"/>
                <a:sym typeface="Arial"/>
              </a:rPr>
              <a:t>real-time energy tracking tools</a:t>
            </a:r>
            <a:endParaRPr b="1" sz="1150">
              <a:solidFill>
                <a:srgbClr val="0E0E0E"/>
              </a:solidFill>
              <a:latin typeface="Arial"/>
              <a:ea typeface="Arial"/>
              <a:cs typeface="Arial"/>
              <a:sym typeface="Arial"/>
            </a:endParaRPr>
          </a:p>
          <a:p>
            <a:pPr indent="-301625" lvl="1" marL="914400" rtl="0" algn="l">
              <a:lnSpc>
                <a:spcPct val="150000"/>
              </a:lnSpc>
              <a:spcBef>
                <a:spcPts val="0"/>
              </a:spcBef>
              <a:spcAft>
                <a:spcPts val="0"/>
              </a:spcAft>
              <a:buClr>
                <a:srgbClr val="0E0E0E"/>
              </a:buClr>
              <a:buSzPts val="1150"/>
              <a:buFont typeface="Arial"/>
              <a:buChar char="○"/>
            </a:pPr>
            <a:r>
              <a:rPr lang="en-CA" sz="1150">
                <a:solidFill>
                  <a:srgbClr val="0E0E0E"/>
                </a:solidFill>
                <a:latin typeface="Arial"/>
                <a:ea typeface="Arial"/>
                <a:cs typeface="Arial"/>
                <a:sym typeface="Arial"/>
              </a:rPr>
              <a:t>Integrate into development environments for </a:t>
            </a:r>
            <a:r>
              <a:rPr b="1" lang="en-CA" sz="1150">
                <a:solidFill>
                  <a:srgbClr val="0E0E0E"/>
                </a:solidFill>
                <a:latin typeface="Arial"/>
                <a:ea typeface="Arial"/>
                <a:cs typeface="Arial"/>
                <a:sym typeface="Arial"/>
              </a:rPr>
              <a:t>dynamic adjustments</a:t>
            </a:r>
            <a:endParaRPr b="1" sz="1150">
              <a:solidFill>
                <a:srgbClr val="0E0E0E"/>
              </a:solidFill>
              <a:latin typeface="Arial"/>
              <a:ea typeface="Arial"/>
              <a:cs typeface="Arial"/>
              <a:sym typeface="Arial"/>
            </a:endParaRPr>
          </a:p>
          <a:p>
            <a:pPr indent="-301625" lvl="0" marL="457200" rtl="0" algn="l">
              <a:spcBef>
                <a:spcPts val="0"/>
              </a:spcBef>
              <a:spcAft>
                <a:spcPts val="0"/>
              </a:spcAft>
              <a:buClr>
                <a:srgbClr val="0E0E0E"/>
              </a:buClr>
              <a:buSzPts val="1150"/>
              <a:buFont typeface="Arial"/>
              <a:buChar char="●"/>
            </a:pPr>
            <a:r>
              <a:rPr b="1" lang="en-CA" sz="1200">
                <a:solidFill>
                  <a:srgbClr val="0E0E0E"/>
                </a:solidFill>
                <a:latin typeface="Arial"/>
                <a:ea typeface="Arial"/>
                <a:cs typeface="Arial"/>
                <a:sym typeface="Arial"/>
              </a:rPr>
              <a:t>Balancing Energy Efficiency and User Experience</a:t>
            </a:r>
            <a:endParaRPr b="1" sz="1150">
              <a:solidFill>
                <a:srgbClr val="0E0E0E"/>
              </a:solidFill>
              <a:latin typeface="Arial"/>
              <a:ea typeface="Arial"/>
              <a:cs typeface="Arial"/>
              <a:sym typeface="Arial"/>
            </a:endParaRPr>
          </a:p>
          <a:p>
            <a:pPr indent="-301625" lvl="1" marL="914400" rtl="0" algn="l">
              <a:lnSpc>
                <a:spcPct val="150000"/>
              </a:lnSpc>
              <a:spcBef>
                <a:spcPts val="0"/>
              </a:spcBef>
              <a:spcAft>
                <a:spcPts val="0"/>
              </a:spcAft>
              <a:buClr>
                <a:srgbClr val="0E0E0E"/>
              </a:buClr>
              <a:buSzPts val="1150"/>
              <a:buFont typeface="Arial"/>
              <a:buChar char="○"/>
            </a:pPr>
            <a:r>
              <a:rPr lang="en-CA" sz="1150">
                <a:solidFill>
                  <a:srgbClr val="0E0E0E"/>
                </a:solidFill>
                <a:latin typeface="Arial"/>
                <a:ea typeface="Arial"/>
                <a:cs typeface="Arial"/>
                <a:sym typeface="Arial"/>
              </a:rPr>
              <a:t>Maintain </a:t>
            </a:r>
            <a:r>
              <a:rPr b="1" lang="en-CA" sz="1150">
                <a:solidFill>
                  <a:srgbClr val="0E0E0E"/>
                </a:solidFill>
                <a:latin typeface="Arial"/>
                <a:ea typeface="Arial"/>
                <a:cs typeface="Arial"/>
                <a:sym typeface="Arial"/>
              </a:rPr>
              <a:t>energy efficiency</a:t>
            </a:r>
            <a:r>
              <a:rPr lang="en-CA" sz="1150">
                <a:solidFill>
                  <a:srgbClr val="0E0E0E"/>
                </a:solidFill>
                <a:latin typeface="Arial"/>
                <a:ea typeface="Arial"/>
                <a:cs typeface="Arial"/>
                <a:sym typeface="Arial"/>
              </a:rPr>
              <a:t> without compromising </a:t>
            </a:r>
            <a:r>
              <a:rPr b="1" lang="en-CA" sz="1150">
                <a:solidFill>
                  <a:srgbClr val="0E0E0E"/>
                </a:solidFill>
                <a:latin typeface="Arial"/>
                <a:ea typeface="Arial"/>
                <a:cs typeface="Arial"/>
                <a:sym typeface="Arial"/>
              </a:rPr>
              <a:t>performance</a:t>
            </a:r>
            <a:r>
              <a:rPr lang="en-CA" sz="1150">
                <a:solidFill>
                  <a:srgbClr val="0E0E0E"/>
                </a:solidFill>
                <a:latin typeface="Arial"/>
                <a:ea typeface="Arial"/>
                <a:cs typeface="Arial"/>
                <a:sym typeface="Arial"/>
              </a:rPr>
              <a:t> and </a:t>
            </a:r>
            <a:r>
              <a:rPr b="1" lang="en-CA" sz="1150">
                <a:solidFill>
                  <a:srgbClr val="0E0E0E"/>
                </a:solidFill>
                <a:latin typeface="Arial"/>
                <a:ea typeface="Arial"/>
                <a:cs typeface="Arial"/>
                <a:sym typeface="Arial"/>
              </a:rPr>
              <a:t>usability</a:t>
            </a:r>
            <a:endParaRPr b="1" sz="1150">
              <a:solidFill>
                <a:srgbClr val="0E0E0E"/>
              </a:solidFill>
              <a:latin typeface="Arial"/>
              <a:ea typeface="Arial"/>
              <a:cs typeface="Arial"/>
              <a:sym typeface="Arial"/>
            </a:endParaRPr>
          </a:p>
          <a:p>
            <a:pPr indent="-301625" lvl="0" marL="457200" rtl="0" algn="l">
              <a:lnSpc>
                <a:spcPct val="150000"/>
              </a:lnSpc>
              <a:spcBef>
                <a:spcPts val="0"/>
              </a:spcBef>
              <a:spcAft>
                <a:spcPts val="0"/>
              </a:spcAft>
              <a:buClr>
                <a:srgbClr val="0E0E0E"/>
              </a:buClr>
              <a:buSzPts val="1150"/>
              <a:buFont typeface="Arial"/>
              <a:buChar char="●"/>
            </a:pPr>
            <a:r>
              <a:rPr b="1" lang="en-CA" sz="1150">
                <a:solidFill>
                  <a:srgbClr val="0E0E0E"/>
                </a:solidFill>
                <a:latin typeface="Arial"/>
                <a:ea typeface="Arial"/>
                <a:cs typeface="Arial"/>
                <a:sym typeface="Arial"/>
              </a:rPr>
              <a:t>Global Standardization</a:t>
            </a:r>
            <a:endParaRPr b="1" sz="1150">
              <a:solidFill>
                <a:srgbClr val="0E0E0E"/>
              </a:solidFill>
              <a:latin typeface="Arial"/>
              <a:ea typeface="Arial"/>
              <a:cs typeface="Arial"/>
              <a:sym typeface="Arial"/>
            </a:endParaRPr>
          </a:p>
          <a:p>
            <a:pPr indent="-301625" lvl="1" marL="914400" rtl="0" algn="l">
              <a:lnSpc>
                <a:spcPct val="150000"/>
              </a:lnSpc>
              <a:spcBef>
                <a:spcPts val="0"/>
              </a:spcBef>
              <a:spcAft>
                <a:spcPts val="0"/>
              </a:spcAft>
              <a:buClr>
                <a:srgbClr val="0E0E0E"/>
              </a:buClr>
              <a:buSzPts val="1150"/>
              <a:buFont typeface="Arial"/>
              <a:buChar char="○"/>
            </a:pPr>
            <a:r>
              <a:rPr lang="en-CA" sz="1150">
                <a:solidFill>
                  <a:srgbClr val="0E0E0E"/>
                </a:solidFill>
                <a:latin typeface="Arial"/>
                <a:ea typeface="Arial"/>
                <a:cs typeface="Arial"/>
                <a:sym typeface="Arial"/>
              </a:rPr>
              <a:t>Collaborate with industry and academia to establish </a:t>
            </a:r>
            <a:r>
              <a:rPr b="1" lang="en-CA" sz="1150">
                <a:solidFill>
                  <a:srgbClr val="0E0E0E"/>
                </a:solidFill>
                <a:latin typeface="Arial"/>
                <a:ea typeface="Arial"/>
                <a:cs typeface="Arial"/>
                <a:sym typeface="Arial"/>
              </a:rPr>
              <a:t>global frameworks</a:t>
            </a:r>
            <a:endParaRPr b="1" sz="1150">
              <a:solidFill>
                <a:srgbClr val="0E0E0E"/>
              </a:solidFill>
              <a:latin typeface="Arial"/>
              <a:ea typeface="Arial"/>
              <a:cs typeface="Arial"/>
              <a:sym typeface="Arial"/>
            </a:endParaRPr>
          </a:p>
          <a:p>
            <a:pPr indent="-301625" lvl="1" marL="914400" rtl="0" algn="l">
              <a:lnSpc>
                <a:spcPct val="150000"/>
              </a:lnSpc>
              <a:spcBef>
                <a:spcPts val="0"/>
              </a:spcBef>
              <a:spcAft>
                <a:spcPts val="0"/>
              </a:spcAft>
              <a:buClr>
                <a:srgbClr val="0E0E0E"/>
              </a:buClr>
              <a:buSzPts val="1150"/>
              <a:buFont typeface="Arial"/>
              <a:buChar char="○"/>
            </a:pPr>
            <a:r>
              <a:rPr lang="en-CA" sz="1150">
                <a:solidFill>
                  <a:srgbClr val="0E0E0E"/>
                </a:solidFill>
                <a:latin typeface="Arial"/>
                <a:ea typeface="Arial"/>
                <a:cs typeface="Arial"/>
                <a:sym typeface="Arial"/>
              </a:rPr>
              <a:t>Promote </a:t>
            </a:r>
            <a:r>
              <a:rPr b="1" lang="en-CA" sz="1150">
                <a:solidFill>
                  <a:srgbClr val="0E0E0E"/>
                </a:solidFill>
                <a:latin typeface="Arial"/>
                <a:ea typeface="Arial"/>
                <a:cs typeface="Arial"/>
                <a:sym typeface="Arial"/>
              </a:rPr>
              <a:t>green software practices</a:t>
            </a:r>
            <a:r>
              <a:rPr lang="en-CA" sz="1150">
                <a:solidFill>
                  <a:srgbClr val="0E0E0E"/>
                </a:solidFill>
                <a:latin typeface="Arial"/>
                <a:ea typeface="Arial"/>
                <a:cs typeface="Arial"/>
                <a:sym typeface="Arial"/>
              </a:rPr>
              <a:t> worldwid</a:t>
            </a:r>
            <a:r>
              <a:rPr lang="en-CA" sz="1150">
                <a:solidFill>
                  <a:srgbClr val="0E0E0E"/>
                </a:solidFill>
                <a:latin typeface="Arial"/>
                <a:ea typeface="Arial"/>
                <a:cs typeface="Arial"/>
                <a:sym typeface="Arial"/>
              </a:rPr>
              <a:t>e</a:t>
            </a:r>
            <a:endParaRPr b="1" sz="1100">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9"/>
          <p:cNvPicPr preferRelativeResize="0"/>
          <p:nvPr/>
        </p:nvPicPr>
        <p:blipFill>
          <a:blip r:embed="rId3">
            <a:alphaModFix/>
          </a:blip>
          <a:stretch>
            <a:fillRect/>
          </a:stretch>
        </p:blipFill>
        <p:spPr>
          <a:xfrm>
            <a:off x="318800" y="325300"/>
            <a:ext cx="3931671" cy="4172052"/>
          </a:xfrm>
          <a:prstGeom prst="rect">
            <a:avLst/>
          </a:prstGeom>
          <a:noFill/>
          <a:ln>
            <a:noFill/>
          </a:ln>
        </p:spPr>
      </p:pic>
      <p:pic>
        <p:nvPicPr>
          <p:cNvPr id="232" name="Google Shape;232;p39"/>
          <p:cNvPicPr preferRelativeResize="0"/>
          <p:nvPr/>
        </p:nvPicPr>
        <p:blipFill>
          <a:blip r:embed="rId4">
            <a:alphaModFix/>
          </a:blip>
          <a:stretch>
            <a:fillRect/>
          </a:stretch>
        </p:blipFill>
        <p:spPr>
          <a:xfrm>
            <a:off x="4121271" y="303975"/>
            <a:ext cx="1961761" cy="4172052"/>
          </a:xfrm>
          <a:prstGeom prst="rect">
            <a:avLst/>
          </a:prstGeom>
          <a:noFill/>
          <a:ln>
            <a:noFill/>
          </a:ln>
        </p:spPr>
      </p:pic>
      <p:pic>
        <p:nvPicPr>
          <p:cNvPr id="233" name="Google Shape;233;p39"/>
          <p:cNvPicPr preferRelativeResize="0"/>
          <p:nvPr/>
        </p:nvPicPr>
        <p:blipFill>
          <a:blip r:embed="rId5">
            <a:alphaModFix/>
          </a:blip>
          <a:stretch>
            <a:fillRect/>
          </a:stretch>
        </p:blipFill>
        <p:spPr>
          <a:xfrm>
            <a:off x="5089200" y="2334475"/>
            <a:ext cx="4088924" cy="1080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type="title"/>
          </p:nvPr>
        </p:nvSpPr>
        <p:spPr>
          <a:xfrm>
            <a:off x="311700" y="445025"/>
            <a:ext cx="8520600" cy="67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sz="2700"/>
              <a:t>Reference</a:t>
            </a:r>
            <a:endParaRPr sz="2700"/>
          </a:p>
        </p:txBody>
      </p:sp>
      <p:sp>
        <p:nvSpPr>
          <p:cNvPr id="239" name="Google Shape;239;p40"/>
          <p:cNvSpPr txBox="1"/>
          <p:nvPr>
            <p:ph idx="1" type="body"/>
          </p:nvPr>
        </p:nvSpPr>
        <p:spPr>
          <a:xfrm>
            <a:off x="311700" y="1022773"/>
            <a:ext cx="8520600" cy="36762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I. Manotas et al. "An Empirical Study of Practitioners' Perspectives on Green Software Engineering". In: Proceedings of the 38th International Conference on Software Engineering (ICSE '16). New York, NY, USA: Association for Computing Machinery, May 2016, pp. 237-248. DOI: 10.1145/2884781. 2884810.</a:t>
            </a:r>
            <a:endParaRPr sz="1000">
              <a:solidFill>
                <a:schemeClr val="dk2"/>
              </a:solidFill>
              <a:latin typeface="Arial"/>
              <a:ea typeface="Arial"/>
              <a:cs typeface="Arial"/>
              <a:sym typeface="Arial"/>
            </a:endParaRPr>
          </a:p>
          <a:p>
            <a:pPr indent="0" lvl="0" marL="45720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B. C. Mourão, L. Karita, and I. do Carmo Machado. "Green and Sustainable Software Engineering - A Systematic Mapping Study". In: Proceedings of the XVII Brazilian Symposium on Software Quality (SBQS '18). New York, NY, USA: Association for Computing Machinery, Oct. 2018, pp. 121-130. DOI: 10.1145/3275245.3275258.</a:t>
            </a:r>
            <a:endParaRPr sz="1000">
              <a:solidFill>
                <a:schemeClr val="dk2"/>
              </a:solidFill>
              <a:latin typeface="Arial"/>
              <a:ea typeface="Arial"/>
              <a:cs typeface="Arial"/>
              <a:sym typeface="Arial"/>
            </a:endParaRPr>
          </a:p>
          <a:p>
            <a:pPr indent="0" lvl="0" marL="45720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A. Brunnert. "Green Software Metrics". In: Companion of the 15th ACM/SPEC In-ternational Conference on Performance Engineering (ICPE 24 Companion). New York, NY, USA: Association for Computing Machinery, May 2024, pp. 287-288. DOI: 10.1145/3629527.3652883.</a:t>
            </a:r>
            <a:endParaRPr sz="1000">
              <a:solidFill>
                <a:schemeClr val="dk2"/>
              </a:solidFill>
              <a:latin typeface="Arial"/>
              <a:ea typeface="Arial"/>
              <a:cs typeface="Arial"/>
              <a:sym typeface="Arial"/>
            </a:endParaRPr>
          </a:p>
          <a:p>
            <a:pPr indent="0" lvl="0" marL="45720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R. D. Caballar. "We Need to Decarbonize Software". In: IEEE Spectrum (Mar.2024). Retrieved September 15, 2024. URL: </a:t>
            </a:r>
            <a:r>
              <a:rPr lang="en-CA" sz="1000" u="sng">
                <a:solidFill>
                  <a:schemeClr val="hlink"/>
                </a:solidFill>
                <a:latin typeface="Arial"/>
                <a:ea typeface="Arial"/>
                <a:cs typeface="Arial"/>
                <a:sym typeface="Arial"/>
                <a:hlinkClick r:id="rId3"/>
              </a:rPr>
              <a:t>https://spectrum.ieee.org/green-software</a:t>
            </a:r>
            <a:r>
              <a:rPr lang="en-CA" sz="1000">
                <a:solidFill>
                  <a:schemeClr val="dk2"/>
                </a:solidFill>
                <a:latin typeface="Arial"/>
                <a:ea typeface="Arial"/>
                <a:cs typeface="Arial"/>
                <a:sym typeface="Arial"/>
              </a:rPr>
              <a:t>.</a:t>
            </a:r>
            <a:endParaRPr sz="1000">
              <a:solidFill>
                <a:schemeClr val="dk2"/>
              </a:solidFill>
              <a:latin typeface="Arial"/>
              <a:ea typeface="Arial"/>
              <a:cs typeface="Arial"/>
              <a:sym typeface="Arial"/>
            </a:endParaRPr>
          </a:p>
          <a:p>
            <a:pPr indent="0" lvl="0" marL="45720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P. Rani et al. "Energy Patterns for Web: An Exploratory Study". In: Proceedings of the 46th International Conference on Software Engineering: Software Engineering in Society. Lisbon, Portugal: ACM, Apr. 2024, pp. 12-22. DOI: 10.1145/3639475.3640110.</a:t>
            </a:r>
            <a:endParaRPr sz="1000">
              <a:solidFill>
                <a:schemeClr val="dk2"/>
              </a:solidFill>
              <a:latin typeface="Arial"/>
              <a:ea typeface="Arial"/>
              <a:cs typeface="Arial"/>
              <a:sym typeface="Arial"/>
            </a:endParaRPr>
          </a:p>
          <a:p>
            <a:pPr indent="0" lvl="0" marL="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L. Singh. "RMVRVM - A Paradigm for Creating Energy Efficient User Applications Connected to Cloud through REST APP". In: Proceedings of the 15th Innovations in Software Engineering Conference (ISEC '22). New York, NY, USA: Association for Computing Machinery, Feb. 2022, pp. 1-11. DOI: 10.1145/3511430.</a:t>
            </a:r>
            <a:endParaRPr sz="1000">
              <a:solidFill>
                <a:schemeClr val="dk2"/>
              </a:solidFill>
              <a:latin typeface="Arial"/>
              <a:ea typeface="Arial"/>
              <a:cs typeface="Arial"/>
              <a:sym typeface="Arial"/>
            </a:endParaRPr>
          </a:p>
          <a:p>
            <a:pPr indent="0" lvl="0" marL="457200" rtl="0" algn="l">
              <a:spcBef>
                <a:spcPts val="0"/>
              </a:spcBef>
              <a:spcAft>
                <a:spcPts val="1200"/>
              </a:spcAft>
              <a:buNone/>
            </a:pPr>
            <a:r>
              <a:t/>
            </a:r>
            <a:endParaRPr sz="1000">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Reference</a:t>
            </a:r>
            <a:endParaRPr/>
          </a:p>
        </p:txBody>
      </p:sp>
      <p:sp>
        <p:nvSpPr>
          <p:cNvPr id="245" name="Google Shape;24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2100" lvl="0" marL="457200" marR="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Guldner, Achim &amp; Bender, Rabea &amp; Calero, Coral &amp; Fernando, Giovanni &amp; Funke, Markus &amp; Gröger, Jens &amp; Hilty, Lorenz &amp; Hörnschemeyer, Julian &amp; Hoffmann, Geerd-Dietger &amp; Junger, Dennis &amp; Kennes, Tom &amp; Kreten, Sandro &amp; Lago, Patricia &amp; Mai, Franziska &amp; Malavolta, Ivano &amp; Murach, Julien &amp; Obergöker, Kira &amp; Schmidt, Benno &amp; Tarara, Arne &amp; Naumann, Stefan. (2024). Development and evaluation of a reference measurement model for assessing the resource and energy efficiency of software products and components—Green Software Measurement Model (GSMM). Future Generation Computer Systems. 155. 10.1016/j.future.2024.01.033. </a:t>
            </a:r>
            <a:endParaRPr sz="1000">
              <a:solidFill>
                <a:schemeClr val="dk2"/>
              </a:solidFill>
              <a:latin typeface="Arial"/>
              <a:ea typeface="Arial"/>
              <a:cs typeface="Arial"/>
              <a:sym typeface="Arial"/>
            </a:endParaRPr>
          </a:p>
          <a:p>
            <a:pPr indent="0" lvl="0" marL="457200" marR="0" rtl="0" algn="l">
              <a:lnSpc>
                <a:spcPct val="115000"/>
              </a:lnSpc>
              <a:spcBef>
                <a:spcPts val="0"/>
              </a:spcBef>
              <a:spcAft>
                <a:spcPts val="0"/>
              </a:spcAft>
              <a:buNone/>
            </a:pPr>
            <a:r>
              <a:t/>
            </a:r>
            <a:endParaRPr sz="1000">
              <a:solidFill>
                <a:schemeClr val="dk2"/>
              </a:solidFill>
              <a:latin typeface="Arial"/>
              <a:ea typeface="Arial"/>
              <a:cs typeface="Arial"/>
              <a:sym typeface="Arial"/>
            </a:endParaRPr>
          </a:p>
          <a:p>
            <a:pPr indent="-292100" lvl="0" marL="457200" marR="0" rtl="0" algn="l">
              <a:lnSpc>
                <a:spcPct val="115000"/>
              </a:lnSpc>
              <a:spcBef>
                <a:spcPts val="0"/>
              </a:spcBef>
              <a:spcAft>
                <a:spcPts val="0"/>
              </a:spcAft>
              <a:buClr>
                <a:schemeClr val="dk2"/>
              </a:buClr>
              <a:buSzPts val="1000"/>
              <a:buFont typeface="Arial"/>
              <a:buChar char="❏"/>
            </a:pPr>
            <a:r>
              <a:rPr lang="en-CA" sz="1000">
                <a:solidFill>
                  <a:schemeClr val="dk2"/>
                </a:solidFill>
                <a:latin typeface="Arial"/>
                <a:ea typeface="Arial"/>
                <a:cs typeface="Arial"/>
                <a:sym typeface="Arial"/>
              </a:rPr>
              <a:t>S. R. A. Ibrahim, J. Yahaya, H. Salehudin, and A. Deraman. “The Development of Green Software Process Model”. In: International Journal of Advanced Computer Science and Applications (2021). doi: 10.14569/ijacsa.2021.0120869. </a:t>
            </a:r>
            <a:endParaRPr sz="1000">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